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31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Relationship Id="rId9" Type="http://schemas.openxmlformats.org/officeDocument/2006/relationships/image" Target="../media/image34.png"/><Relationship Id="rId10" Type="http://schemas.openxmlformats.org/officeDocument/2006/relationships/image" Target="../media/image3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2.png"/><Relationship Id="rId5" Type="http://schemas.openxmlformats.org/officeDocument/2006/relationships/image" Target="../media/image38.png"/><Relationship Id="rId6" Type="http://schemas.openxmlformats.org/officeDocument/2006/relationships/image" Target="../media/image6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39.png"/><Relationship Id="rId4" Type="http://schemas.openxmlformats.org/officeDocument/2006/relationships/image" Target="../media/image47.png"/><Relationship Id="rId5" Type="http://schemas.openxmlformats.org/officeDocument/2006/relationships/image" Target="../media/image48.png"/><Relationship Id="rId6" Type="http://schemas.openxmlformats.org/officeDocument/2006/relationships/image" Target="../media/image49.png"/><Relationship Id="rId7" Type="http://schemas.openxmlformats.org/officeDocument/2006/relationships/image" Target="../media/image5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image" Target="../media/image55.png"/><Relationship Id="rId4" Type="http://schemas.openxmlformats.org/officeDocument/2006/relationships/image" Target="../media/image5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57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50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2"/>
          <p:cNvSpPr/>
          <p:nvPr/>
        </p:nvSpPr>
        <p:spPr>
          <a:xfrm>
            <a:off x="0" y="0"/>
            <a:ext cx="18288000" cy="1714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3"/>
          <p:cNvSpPr/>
          <p:nvPr/>
        </p:nvSpPr>
        <p:spPr>
          <a:xfrm>
            <a:off x="0" y="9906000"/>
            <a:ext cx="18288000" cy="381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4"/>
          <p:cNvSpPr/>
          <p:nvPr/>
        </p:nvSpPr>
        <p:spPr>
          <a:xfrm>
            <a:off x="1047750" y="2381250"/>
            <a:ext cx="952500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0" b="1" i="0" u="none">
                <a:solidFill>
                  <a:srgbClr val="0170C1"/>
                </a:solidFill>
                <a:latin typeface="Century Gothic"/>
              </a:rPr>
              <a:t>AdaMAS-RSI</a:t>
            </a:r>
          </a:p>
        </p:txBody>
      </p:sp>
      <p:sp>
        <p:nvSpPr>
          <p:cNvPr id="6" name="drawio2pptx:shape:c5"/>
          <p:cNvSpPr/>
          <p:nvPr/>
        </p:nvSpPr>
        <p:spPr>
          <a:xfrm>
            <a:off x="1047750" y="3810000"/>
            <a:ext cx="10001250" cy="1047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500" b="1" i="0" u="none">
                <a:solidFill>
                  <a:srgbClr val="1A1A2E"/>
                </a:solidFill>
                <a:latin typeface="微软雅黑"/>
              </a:rPr>
              <a:t>在编排层上的递归自我改进</a:t>
            </a:r>
          </a:p>
        </p:txBody>
      </p:sp>
      <p:sp>
        <p:nvSpPr>
          <p:cNvPr id="7" name="drawio2pptx:shape:c6"/>
          <p:cNvSpPr/>
          <p:nvPr/>
        </p:nvSpPr>
        <p:spPr>
          <a:xfrm>
            <a:off x="1047750" y="5048250"/>
            <a:ext cx="1524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drawio2pptx:shape:c7"/>
          <p:cNvSpPr/>
          <p:nvPr/>
        </p:nvSpPr>
        <p:spPr>
          <a:xfrm>
            <a:off x="1047750" y="5334000"/>
            <a:ext cx="1000125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 u="none">
                <a:solidFill>
                  <a:srgbClr val="4A5568"/>
                </a:solidFill>
                <a:latin typeface="微软雅黑"/>
              </a:rPr>
              <a:t>让系统自己改进“如何设计与修复多智能体拓扑”</a:t>
            </a:r>
          </a:p>
        </p:txBody>
      </p:sp>
      <p:sp>
        <p:nvSpPr>
          <p:cNvPr id="9" name="drawio2pptx:shape:c8"/>
          <p:cNvSpPr/>
          <p:nvPr/>
        </p:nvSpPr>
        <p:spPr>
          <a:xfrm>
            <a:off x="1047750" y="8572500"/>
            <a:ext cx="9525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4A5568"/>
                </a:solidFill>
                <a:latin typeface="微软雅黑"/>
              </a:rPr>
              <a:t>AdaMAS 项目 · 分支 rsi · 2026 年 10 月</a:t>
            </a:r>
          </a:p>
        </p:txBody>
      </p:sp>
      <p:sp>
        <p:nvSpPr>
          <p:cNvPr id="10" name="drawio2pptx:shape:c9"/>
          <p:cNvSpPr/>
          <p:nvPr/>
        </p:nvSpPr>
        <p:spPr>
          <a:xfrm>
            <a:off x="10287000" y="1524000"/>
            <a:ext cx="7620000" cy="7620000"/>
          </a:xfrm>
          <a:prstGeom prst="ellipse">
            <a:avLst/>
          </a:prstGeom>
          <a:solidFill>
            <a:srgbClr val="E3EEF8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drawio2pptx:shape:c10"/>
          <p:cNvSpPr/>
          <p:nvPr/>
        </p:nvSpPr>
        <p:spPr>
          <a:xfrm>
            <a:off x="11239500" y="2476500"/>
            <a:ext cx="5715000" cy="5715000"/>
          </a:xfrm>
          <a:prstGeom prst="ellipse">
            <a:avLst/>
          </a:prstGeom>
          <a:solidFill>
            <a:srgbClr val="CFE1F3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drawio2pptx:shape:c11"/>
          <p:cNvSpPr/>
          <p:nvPr/>
        </p:nvSpPr>
        <p:spPr>
          <a:xfrm>
            <a:off x="12192000" y="3429000"/>
            <a:ext cx="3810000" cy="3810000"/>
          </a:xfrm>
          <a:prstGeom prst="ellipse">
            <a:avLst/>
          </a:prstGeom>
          <a:solidFill>
            <a:srgbClr val="A9CCEA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drawio2pptx:shape:c12"/>
          <p:cNvSpPr/>
          <p:nvPr/>
        </p:nvSpPr>
        <p:spPr>
          <a:xfrm>
            <a:off x="13144500" y="4381500"/>
            <a:ext cx="1905000" cy="1905000"/>
          </a:xfrm>
          <a:prstGeom prst="ellipse">
            <a:avLst/>
          </a:prstGeom>
          <a:solidFill>
            <a:srgbClr val="0170C1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drawio2pptx:shape:c13"/>
          <p:cNvSpPr/>
          <p:nvPr/>
        </p:nvSpPr>
        <p:spPr>
          <a:xfrm>
            <a:off x="13754100" y="4991100"/>
            <a:ext cx="685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drawio2pptx:shape-image:c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54100" y="4991100"/>
            <a:ext cx="685800" cy="685800"/>
          </a:xfrm>
          <a:prstGeom prst="rect">
            <a:avLst/>
          </a:prstGeom>
          <a:ln>
            <a:noFill/>
          </a:ln>
        </p:spPr>
      </p:pic>
      <p:sp>
        <p:nvSpPr>
          <p:cNvPr id="16" name="drawio2pptx:shape:c14"/>
          <p:cNvSpPr/>
          <p:nvPr/>
        </p:nvSpPr>
        <p:spPr>
          <a:xfrm>
            <a:off x="12287250" y="1657350"/>
            <a:ext cx="3619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0B4F8A"/>
                </a:solidFill>
                <a:latin typeface="微软雅黑"/>
              </a:rPr>
              <a:t>外层循环 · 规划器</a:t>
            </a:r>
          </a:p>
        </p:txBody>
      </p:sp>
      <p:sp>
        <p:nvSpPr>
          <p:cNvPr id="17" name="drawio2pptx:shape:c15"/>
          <p:cNvSpPr/>
          <p:nvPr/>
        </p:nvSpPr>
        <p:spPr>
          <a:xfrm>
            <a:off x="12287250" y="2590800"/>
            <a:ext cx="3619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0B4F8A"/>
                </a:solidFill>
                <a:latin typeface="微软雅黑"/>
              </a:rPr>
              <a:t>慢循环 · 出题者</a:t>
            </a:r>
          </a:p>
        </p:txBody>
      </p:sp>
      <p:sp>
        <p:nvSpPr>
          <p:cNvPr id="18" name="drawio2pptx:shape:c16"/>
          <p:cNvSpPr/>
          <p:nvPr/>
        </p:nvSpPr>
        <p:spPr>
          <a:xfrm>
            <a:off x="12287250" y="3524250"/>
            <a:ext cx="3619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0B4F8A"/>
                </a:solidFill>
                <a:latin typeface="微软雅黑"/>
              </a:rPr>
              <a:t>设计循环 · 剧本表与首轮表</a:t>
            </a:r>
          </a:p>
        </p:txBody>
      </p:sp>
      <p:sp>
        <p:nvSpPr>
          <p:cNvPr id="19" name="drawio2pptx:shape:c17"/>
          <p:cNvSpPr/>
          <p:nvPr/>
        </p:nvSpPr>
        <p:spPr>
          <a:xfrm>
            <a:off x="12954000" y="5753100"/>
            <a:ext cx="22860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FFFFF"/>
                </a:solidFill>
                <a:latin typeface="微软雅黑"/>
              </a:rPr>
              <a:t>里程碑执行</a:t>
            </a:r>
          </a:p>
        </p:txBody>
      </p:sp>
      <p:sp>
        <p:nvSpPr>
          <p:cNvPr id="20" name="drawio2pptx:shape:c18"/>
          <p:cNvSpPr/>
          <p:nvPr/>
        </p:nvSpPr>
        <p:spPr>
          <a:xfrm>
            <a:off x="10496550" y="506730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drawio2pptx:shape-image:c1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6550" y="506730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22" name="drawio2pptx:shape:c19"/>
          <p:cNvSpPr/>
          <p:nvPr/>
        </p:nvSpPr>
        <p:spPr>
          <a:xfrm>
            <a:off x="11449050" y="506730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drawio2pptx:shape-image:c1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49050" y="506730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24" name="drawio2pptx:shape:c20"/>
          <p:cNvSpPr/>
          <p:nvPr/>
        </p:nvSpPr>
        <p:spPr>
          <a:xfrm>
            <a:off x="12401550" y="506730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drawio2pptx:shape-image:c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01550" y="5067300"/>
            <a:ext cx="533400" cy="53340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2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23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24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25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一页总览</a:t>
            </a:r>
          </a:p>
        </p:txBody>
      </p:sp>
      <p:sp>
        <p:nvSpPr>
          <p:cNvPr id="6" name="drawio2pptx:shape:c26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27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28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2 / 18</a:t>
            </a:r>
          </a:p>
        </p:txBody>
      </p:sp>
      <p:sp>
        <p:nvSpPr>
          <p:cNvPr id="9" name="drawio2pptx:shape:c29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OVERVIEW</a:t>
            </a:r>
          </a:p>
        </p:txBody>
      </p:sp>
      <p:sp>
        <p:nvSpPr>
          <p:cNvPr id="10" name="drawio2pptx:shape:c30"/>
          <p:cNvSpPr/>
          <p:nvPr/>
        </p:nvSpPr>
        <p:spPr>
          <a:xfrm>
            <a:off x="666750" y="1428750"/>
            <a:ext cx="657225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A1A2E"/>
                </a:solidFill>
                <a:latin typeface="微软雅黑"/>
              </a:rPr>
              <a:t>AdaMAS 在每个里程碑上解题；RSI 让它从每次解题的结果里，改进下一次的设计与修复方式</a:t>
            </a:r>
          </a:p>
        </p:txBody>
      </p:sp>
      <p:sp>
        <p:nvSpPr>
          <p:cNvPr id="11" name="drawio2pptx:shape:c31"/>
          <p:cNvSpPr/>
          <p:nvPr/>
        </p:nvSpPr>
        <p:spPr>
          <a:xfrm>
            <a:off x="666750" y="2286000"/>
            <a:ext cx="57150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u="none">
                <a:solidFill>
                  <a:srgbClr val="0170C1"/>
                </a:solidFill>
                <a:latin typeface="微软雅黑"/>
              </a:rPr>
              <a:t>四个可进化部件</a:t>
            </a:r>
          </a:p>
        </p:txBody>
      </p:sp>
      <p:sp>
        <p:nvSpPr>
          <p:cNvPr id="12" name="drawio2pptx:shape:c32"/>
          <p:cNvSpPr/>
          <p:nvPr/>
        </p:nvSpPr>
        <p:spPr>
          <a:xfrm>
            <a:off x="762000" y="2857500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drawio2pptx:shape-image:c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57500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14" name="drawio2pptx:shape:c33"/>
          <p:cNvSpPr/>
          <p:nvPr/>
        </p:nvSpPr>
        <p:spPr>
          <a:xfrm>
            <a:off x="1428750" y="2857500"/>
            <a:ext cx="457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 u="none">
                <a:solidFill>
                  <a:srgbClr val="1A1A2E"/>
                </a:solidFill>
                <a:latin typeface="微软雅黑"/>
              </a:rPr>
              <a:t>修复剧本表</a:t>
            </a:r>
          </a:p>
        </p:txBody>
      </p:sp>
      <p:sp>
        <p:nvSpPr>
          <p:cNvPr id="15" name="drawio2pptx:shape:c34"/>
          <p:cNvSpPr/>
          <p:nvPr/>
        </p:nvSpPr>
        <p:spPr>
          <a:xfrm>
            <a:off x="762000" y="3524250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drawio2pptx:shape-image:c3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524250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17" name="drawio2pptx:shape:c35"/>
          <p:cNvSpPr/>
          <p:nvPr/>
        </p:nvSpPr>
        <p:spPr>
          <a:xfrm>
            <a:off x="1428750" y="3524250"/>
            <a:ext cx="457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 u="none">
                <a:solidFill>
                  <a:srgbClr val="1A1A2E"/>
                </a:solidFill>
                <a:latin typeface="微软雅黑"/>
              </a:rPr>
              <a:t>首轮兼容表</a:t>
            </a:r>
          </a:p>
        </p:txBody>
      </p:sp>
      <p:sp>
        <p:nvSpPr>
          <p:cNvPr id="18" name="drawio2pptx:shape:c36"/>
          <p:cNvSpPr/>
          <p:nvPr/>
        </p:nvSpPr>
        <p:spPr>
          <a:xfrm>
            <a:off x="762000" y="4191000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drawio2pptx:shape-image:c3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191000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20" name="drawio2pptx:shape:c37"/>
          <p:cNvSpPr/>
          <p:nvPr/>
        </p:nvSpPr>
        <p:spPr>
          <a:xfrm>
            <a:off x="1428750" y="4191000"/>
            <a:ext cx="457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 u="none">
                <a:solidFill>
                  <a:srgbClr val="1A1A2E"/>
                </a:solidFill>
                <a:latin typeface="微软雅黑"/>
              </a:rPr>
              <a:t>出题者</a:t>
            </a:r>
          </a:p>
        </p:txBody>
      </p:sp>
      <p:sp>
        <p:nvSpPr>
          <p:cNvPr id="21" name="drawio2pptx:shape:c38"/>
          <p:cNvSpPr/>
          <p:nvPr/>
        </p:nvSpPr>
        <p:spPr>
          <a:xfrm>
            <a:off x="762000" y="4857750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drawio2pptx:shape-image:c3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857750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23" name="drawio2pptx:shape:c39"/>
          <p:cNvSpPr/>
          <p:nvPr/>
        </p:nvSpPr>
        <p:spPr>
          <a:xfrm>
            <a:off x="1428750" y="4857750"/>
            <a:ext cx="45720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0" i="0" u="none">
                <a:solidFill>
                  <a:srgbClr val="1A1A2E"/>
                </a:solidFill>
                <a:latin typeface="微软雅黑"/>
              </a:rPr>
              <a:t>规划器</a:t>
            </a:r>
          </a:p>
        </p:txBody>
      </p:sp>
      <p:sp>
        <p:nvSpPr>
          <p:cNvPr id="24" name="drawio2pptx:shape:c40"/>
          <p:cNvSpPr/>
          <p:nvPr/>
        </p:nvSpPr>
        <p:spPr>
          <a:xfrm>
            <a:off x="666750" y="5715000"/>
            <a:ext cx="5905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 u="none">
                <a:solidFill>
                  <a:srgbClr val="0170C1"/>
                </a:solidFill>
                <a:latin typeface="微软雅黑"/>
              </a:rPr>
              <a:t>四个时间尺度</a:t>
            </a:r>
          </a:p>
        </p:txBody>
      </p:sp>
      <p:sp>
        <p:nvSpPr>
          <p:cNvPr id="25" name="drawio2pptx:shape:c41"/>
          <p:cNvSpPr/>
          <p:nvPr/>
        </p:nvSpPr>
        <p:spPr>
          <a:xfrm>
            <a:off x="762000" y="6286500"/>
            <a:ext cx="476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6" name="drawio2pptx:shape-image:c4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6286500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27" name="drawio2pptx:shape:c42"/>
          <p:cNvSpPr/>
          <p:nvPr/>
        </p:nvSpPr>
        <p:spPr>
          <a:xfrm>
            <a:off x="1428750" y="6286500"/>
            <a:ext cx="5334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A1A2E"/>
                </a:solidFill>
                <a:latin typeface="微软雅黑"/>
              </a:rPr>
              <a:t>快速搜索：不进化，只产生数据</a:t>
            </a:r>
          </a:p>
        </p:txBody>
      </p:sp>
      <p:sp>
        <p:nvSpPr>
          <p:cNvPr id="28" name="drawio2pptx:shape:c43"/>
          <p:cNvSpPr/>
          <p:nvPr/>
        </p:nvSpPr>
        <p:spPr>
          <a:xfrm>
            <a:off x="762000" y="6915150"/>
            <a:ext cx="476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9" name="drawio2pptx:shape-image:c4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6915150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30" name="drawio2pptx:shape:c44"/>
          <p:cNvSpPr/>
          <p:nvPr/>
        </p:nvSpPr>
        <p:spPr>
          <a:xfrm>
            <a:off x="1428750" y="6915150"/>
            <a:ext cx="5334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A1A2E"/>
                </a:solidFill>
                <a:latin typeface="微软雅黑"/>
              </a:rPr>
              <a:t>设计循环：改两张表</a:t>
            </a:r>
          </a:p>
        </p:txBody>
      </p:sp>
      <p:sp>
        <p:nvSpPr>
          <p:cNvPr id="31" name="drawio2pptx:shape:c45"/>
          <p:cNvSpPr/>
          <p:nvPr/>
        </p:nvSpPr>
        <p:spPr>
          <a:xfrm>
            <a:off x="762000" y="7543800"/>
            <a:ext cx="476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2" name="drawio2pptx:shape-image:c4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2000" y="7543800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33" name="drawio2pptx:shape:c46"/>
          <p:cNvSpPr/>
          <p:nvPr/>
        </p:nvSpPr>
        <p:spPr>
          <a:xfrm>
            <a:off x="1428750" y="7543800"/>
            <a:ext cx="5334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A1A2E"/>
                </a:solidFill>
                <a:latin typeface="微软雅黑"/>
              </a:rPr>
              <a:t>慢循环：改出题者</a:t>
            </a:r>
          </a:p>
        </p:txBody>
      </p:sp>
      <p:sp>
        <p:nvSpPr>
          <p:cNvPr id="34" name="drawio2pptx:shape:c47"/>
          <p:cNvSpPr/>
          <p:nvPr/>
        </p:nvSpPr>
        <p:spPr>
          <a:xfrm>
            <a:off x="762000" y="8172450"/>
            <a:ext cx="476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5" name="drawio2pptx:shape-image:c4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2000" y="8172450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36" name="drawio2pptx:shape:c48"/>
          <p:cNvSpPr/>
          <p:nvPr/>
        </p:nvSpPr>
        <p:spPr>
          <a:xfrm>
            <a:off x="1428750" y="8172450"/>
            <a:ext cx="5334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A1A2E"/>
                </a:solidFill>
                <a:latin typeface="微软雅黑"/>
              </a:rPr>
              <a:t>外层循环：改规划器</a:t>
            </a:r>
          </a:p>
        </p:txBody>
      </p:sp>
      <p:sp>
        <p:nvSpPr>
          <p:cNvPr id="37" name="drawio2pptx:shape:c49"/>
          <p:cNvSpPr/>
          <p:nvPr/>
        </p:nvSpPr>
        <p:spPr>
          <a:xfrm>
            <a:off x="7429500" y="1714500"/>
            <a:ext cx="10096500" cy="7810500"/>
          </a:xfrm>
          <a:prstGeom prst="roundRect">
            <a:avLst/>
          </a:prstGeom>
          <a:solidFill>
            <a:srgbClr val="EAF2FA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drawio2pptx:shape:c50"/>
          <p:cNvSpPr/>
          <p:nvPr/>
        </p:nvSpPr>
        <p:spPr>
          <a:xfrm>
            <a:off x="7600950" y="1828800"/>
            <a:ext cx="4191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9" name="drawio2pptx:shape-image:c5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0950" y="1828800"/>
            <a:ext cx="419100" cy="419100"/>
          </a:xfrm>
          <a:prstGeom prst="rect">
            <a:avLst/>
          </a:prstGeom>
          <a:ln>
            <a:noFill/>
          </a:ln>
        </p:spPr>
      </p:pic>
      <p:sp>
        <p:nvSpPr>
          <p:cNvPr id="40" name="drawio2pptx:shape:c51"/>
          <p:cNvSpPr/>
          <p:nvPr/>
        </p:nvSpPr>
        <p:spPr>
          <a:xfrm>
            <a:off x="8096250" y="1790700"/>
            <a:ext cx="9239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B4F8A"/>
                </a:solidFill>
                <a:latin typeface="微软雅黑"/>
              </a:rPr>
              <a:t>外层循环 · 进化规划器 · 惰性触发</a:t>
            </a:r>
          </a:p>
        </p:txBody>
      </p:sp>
      <p:sp>
        <p:nvSpPr>
          <p:cNvPr id="41" name="drawio2pptx:shape:c52"/>
          <p:cNvSpPr/>
          <p:nvPr/>
        </p:nvSpPr>
        <p:spPr>
          <a:xfrm>
            <a:off x="8191500" y="2333625"/>
            <a:ext cx="8572500" cy="6572250"/>
          </a:xfrm>
          <a:prstGeom prst="roundRect">
            <a:avLst/>
          </a:prstGeom>
          <a:solidFill>
            <a:srgbClr val="D6E6F5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drawio2pptx:shape:c53"/>
          <p:cNvSpPr/>
          <p:nvPr/>
        </p:nvSpPr>
        <p:spPr>
          <a:xfrm>
            <a:off x="8362950" y="2447925"/>
            <a:ext cx="4191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3" name="drawio2pptx:shape-image:c5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62950" y="2447925"/>
            <a:ext cx="419100" cy="419100"/>
          </a:xfrm>
          <a:prstGeom prst="rect">
            <a:avLst/>
          </a:prstGeom>
          <a:ln>
            <a:noFill/>
          </a:ln>
        </p:spPr>
      </p:pic>
      <p:sp>
        <p:nvSpPr>
          <p:cNvPr id="44" name="drawio2pptx:shape:c54"/>
          <p:cNvSpPr/>
          <p:nvPr/>
        </p:nvSpPr>
        <p:spPr>
          <a:xfrm>
            <a:off x="8858250" y="2409825"/>
            <a:ext cx="7715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B4F8A"/>
                </a:solidFill>
                <a:latin typeface="微软雅黑"/>
              </a:rPr>
              <a:t>慢循环 · 进化出题者 · held-out 错误累积后</a:t>
            </a:r>
          </a:p>
        </p:txBody>
      </p:sp>
      <p:sp>
        <p:nvSpPr>
          <p:cNvPr id="45" name="drawio2pptx:shape:c55"/>
          <p:cNvSpPr/>
          <p:nvPr/>
        </p:nvSpPr>
        <p:spPr>
          <a:xfrm>
            <a:off x="8953500" y="2952750"/>
            <a:ext cx="7048500" cy="5334000"/>
          </a:xfrm>
          <a:prstGeom prst="roundRect">
            <a:avLst/>
          </a:prstGeom>
          <a:solidFill>
            <a:srgbClr val="BFD8F0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drawio2pptx:shape:c56"/>
          <p:cNvSpPr/>
          <p:nvPr/>
        </p:nvSpPr>
        <p:spPr>
          <a:xfrm>
            <a:off x="9124950" y="3067050"/>
            <a:ext cx="4191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7" name="drawio2pptx:shape-image:c56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24950" y="3067050"/>
            <a:ext cx="419100" cy="419100"/>
          </a:xfrm>
          <a:prstGeom prst="rect">
            <a:avLst/>
          </a:prstGeom>
          <a:ln>
            <a:noFill/>
          </a:ln>
        </p:spPr>
      </p:pic>
      <p:sp>
        <p:nvSpPr>
          <p:cNvPr id="48" name="drawio2pptx:shape:c57"/>
          <p:cNvSpPr/>
          <p:nvPr/>
        </p:nvSpPr>
        <p:spPr>
          <a:xfrm>
            <a:off x="9620250" y="3028950"/>
            <a:ext cx="6191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B4F8A"/>
                </a:solidFill>
                <a:latin typeface="微软雅黑"/>
              </a:rPr>
              <a:t>设计循环 · 进化剧本表与首轮兼容表 · 每 6 题</a:t>
            </a:r>
          </a:p>
        </p:txBody>
      </p:sp>
      <p:sp>
        <p:nvSpPr>
          <p:cNvPr id="49" name="drawio2pptx:shape:c58"/>
          <p:cNvSpPr/>
          <p:nvPr/>
        </p:nvSpPr>
        <p:spPr>
          <a:xfrm>
            <a:off x="9620250" y="4476750"/>
            <a:ext cx="5715000" cy="285750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drawio2pptx:shape:c59"/>
          <p:cNvSpPr/>
          <p:nvPr/>
        </p:nvSpPr>
        <p:spPr>
          <a:xfrm>
            <a:off x="9810750" y="462915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1" name="drawio2pptx:shape-image:c59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810750" y="462915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52" name="drawio2pptx:shape:c60"/>
          <p:cNvSpPr/>
          <p:nvPr/>
        </p:nvSpPr>
        <p:spPr>
          <a:xfrm>
            <a:off x="10477500" y="4591050"/>
            <a:ext cx="4572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FFFFFF"/>
                </a:solidFill>
                <a:latin typeface="微软雅黑"/>
              </a:rPr>
              <a:t>里程碑执行（快速搜索）</a:t>
            </a:r>
          </a:p>
        </p:txBody>
      </p:sp>
      <p:sp>
        <p:nvSpPr>
          <p:cNvPr id="53" name="drawio2pptx:shape:c61"/>
          <p:cNvSpPr/>
          <p:nvPr/>
        </p:nvSpPr>
        <p:spPr>
          <a:xfrm>
            <a:off x="9906000" y="5334000"/>
            <a:ext cx="53340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FFFFFF"/>
                </a:solidFill>
                <a:latin typeface="微软雅黑"/>
              </a:rPr>
              <a:t>首轮 → 探针 → 路由诊断</a:t>
            </a:r>
          </a:p>
        </p:txBody>
      </p:sp>
      <p:sp>
        <p:nvSpPr>
          <p:cNvPr id="54" name="drawio2pptx:shape:c62"/>
          <p:cNvSpPr/>
          <p:nvPr/>
        </p:nvSpPr>
        <p:spPr>
          <a:xfrm>
            <a:off x="9906000" y="5924550"/>
            <a:ext cx="53340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FFFFFF"/>
                </a:solidFill>
                <a:latin typeface="微软雅黑"/>
              </a:rPr>
              <a:t>R0 默认修复 + 剧本行候选</a:t>
            </a:r>
          </a:p>
        </p:txBody>
      </p:sp>
      <p:sp>
        <p:nvSpPr>
          <p:cNvPr id="55" name="drawio2pptx:shape:c63"/>
          <p:cNvSpPr/>
          <p:nvPr/>
        </p:nvSpPr>
        <p:spPr>
          <a:xfrm>
            <a:off x="9906000" y="6515100"/>
            <a:ext cx="53340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FFFFFF"/>
                </a:solidFill>
                <a:latin typeface="微软雅黑"/>
              </a:rPr>
              <a:t>统一验收 → 提交 → 写账本</a:t>
            </a:r>
          </a:p>
        </p:txBody>
      </p:sp>
      <p:sp>
        <p:nvSpPr>
          <p:cNvPr id="56" name="drawio2pptx:shape:c64"/>
          <p:cNvSpPr/>
          <p:nvPr/>
        </p:nvSpPr>
        <p:spPr>
          <a:xfrm>
            <a:off x="7620000" y="7905750"/>
            <a:ext cx="2857500" cy="5143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F28C28"/>
                </a:solidFill>
                <a:latin typeface="微软雅黑"/>
              </a:rPr>
              <a:t>数据向外流：账本、错题库</a:t>
            </a:r>
          </a:p>
        </p:txBody>
      </p:sp>
      <p:sp>
        <p:nvSpPr>
          <p:cNvPr id="57" name="drawio2pptx:shape:c65"/>
          <p:cNvSpPr/>
          <p:nvPr/>
        </p:nvSpPr>
        <p:spPr>
          <a:xfrm>
            <a:off x="10477500" y="7810500"/>
            <a:ext cx="5715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F28C28"/>
                </a:solidFill>
                <a:latin typeface="Arial"/>
              </a:rPr>
              <a:t>→</a:t>
            </a:r>
          </a:p>
        </p:txBody>
      </p:sp>
      <p:sp>
        <p:nvSpPr>
          <p:cNvPr id="58" name="drawio2pptx:shape:c66"/>
          <p:cNvSpPr/>
          <p:nvPr/>
        </p:nvSpPr>
        <p:spPr>
          <a:xfrm>
            <a:off x="14097000" y="7810500"/>
            <a:ext cx="5715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0170C1"/>
                </a:solidFill>
                <a:latin typeface="Arial"/>
              </a:rPr>
              <a:t>←</a:t>
            </a:r>
          </a:p>
        </p:txBody>
      </p:sp>
      <p:sp>
        <p:nvSpPr>
          <p:cNvPr id="59" name="drawio2pptx:shape:c67"/>
          <p:cNvSpPr/>
          <p:nvPr/>
        </p:nvSpPr>
        <p:spPr>
          <a:xfrm>
            <a:off x="14668500" y="7810500"/>
            <a:ext cx="2667000" cy="70485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0170C1"/>
                </a:solidFill>
                <a:latin typeface="微软雅黑"/>
              </a:rPr>
              <a:t>新版本向内流：表格、提示词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6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70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71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72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递归发生在哪里</a:t>
            </a:r>
          </a:p>
        </p:txBody>
      </p:sp>
      <p:sp>
        <p:nvSpPr>
          <p:cNvPr id="6" name="drawio2pptx:shape:c73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74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75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3 / 18</a:t>
            </a:r>
          </a:p>
        </p:txBody>
      </p:sp>
      <p:sp>
        <p:nvSpPr>
          <p:cNvPr id="9" name="drawio2pptx:shape:c76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WHERE THE RECURSION IS</a:t>
            </a:r>
          </a:p>
        </p:txBody>
      </p:sp>
      <p:sp>
        <p:nvSpPr>
          <p:cNvPr id="10" name="drawio2pptx:shape:c77"/>
          <p:cNvSpPr/>
          <p:nvPr/>
        </p:nvSpPr>
        <p:spPr>
          <a:xfrm>
            <a:off x="666750" y="1619250"/>
            <a:ext cx="8191500" cy="514350"/>
          </a:xfrm>
          <a:prstGeom prst="round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微软雅黑"/>
              </a:rPr>
              <a:t>快速搜索：单个里程碑内的小循环（有界自我精炼，不是 RSI）</a:t>
            </a:r>
          </a:p>
        </p:txBody>
      </p:sp>
      <p:sp>
        <p:nvSpPr>
          <p:cNvPr id="11" name="drawio2pptx:shape:c78"/>
          <p:cNvSpPr/>
          <p:nvPr/>
        </p:nvSpPr>
        <p:spPr>
          <a:xfrm>
            <a:off x="1143000" y="3143250"/>
            <a:ext cx="2095500" cy="142875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drawio2pptx:shape:c79"/>
          <p:cNvSpPr/>
          <p:nvPr/>
        </p:nvSpPr>
        <p:spPr>
          <a:xfrm>
            <a:off x="1847850" y="3257550"/>
            <a:ext cx="6096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drawio2pptx:shape-image:c7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7850" y="3257550"/>
            <a:ext cx="609600" cy="609600"/>
          </a:xfrm>
          <a:prstGeom prst="rect">
            <a:avLst/>
          </a:prstGeom>
          <a:ln>
            <a:noFill/>
          </a:ln>
        </p:spPr>
      </p:pic>
      <p:sp>
        <p:nvSpPr>
          <p:cNvPr id="14" name="drawio2pptx:shape:c80"/>
          <p:cNvSpPr/>
          <p:nvPr/>
        </p:nvSpPr>
        <p:spPr>
          <a:xfrm>
            <a:off x="1143000" y="3905250"/>
            <a:ext cx="2095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4A5568"/>
                </a:solidFill>
                <a:latin typeface="微软雅黑"/>
              </a:rPr>
              <a:t>持续失败</a:t>
            </a:r>
          </a:p>
        </p:txBody>
      </p:sp>
      <p:sp>
        <p:nvSpPr>
          <p:cNvPr id="15" name="drawio2pptx:shape:c81"/>
          <p:cNvSpPr/>
          <p:nvPr/>
        </p:nvSpPr>
        <p:spPr>
          <a:xfrm>
            <a:off x="3238500" y="3524250"/>
            <a:ext cx="4762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9AA5B1"/>
                </a:solidFill>
                <a:latin typeface="Arial"/>
              </a:rPr>
              <a:t>→</a:t>
            </a:r>
          </a:p>
        </p:txBody>
      </p:sp>
      <p:sp>
        <p:nvSpPr>
          <p:cNvPr id="16" name="drawio2pptx:shape:c82"/>
          <p:cNvSpPr/>
          <p:nvPr/>
        </p:nvSpPr>
        <p:spPr>
          <a:xfrm>
            <a:off x="3714750" y="3143250"/>
            <a:ext cx="2095500" cy="142875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drawio2pptx:shape:c83"/>
          <p:cNvSpPr/>
          <p:nvPr/>
        </p:nvSpPr>
        <p:spPr>
          <a:xfrm>
            <a:off x="4419600" y="3257550"/>
            <a:ext cx="6096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drawio2pptx:shape-image:c8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0" y="3257550"/>
            <a:ext cx="609600" cy="609600"/>
          </a:xfrm>
          <a:prstGeom prst="rect">
            <a:avLst/>
          </a:prstGeom>
          <a:ln>
            <a:noFill/>
          </a:ln>
        </p:spPr>
      </p:pic>
      <p:sp>
        <p:nvSpPr>
          <p:cNvPr id="19" name="drawio2pptx:shape:c84"/>
          <p:cNvSpPr/>
          <p:nvPr/>
        </p:nvSpPr>
        <p:spPr>
          <a:xfrm>
            <a:off x="3714750" y="3905250"/>
            <a:ext cx="2095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4A5568"/>
                </a:solidFill>
                <a:latin typeface="微软雅黑"/>
              </a:rPr>
              <a:t>修复（R0 / 剧本行）</a:t>
            </a:r>
          </a:p>
        </p:txBody>
      </p:sp>
      <p:sp>
        <p:nvSpPr>
          <p:cNvPr id="20" name="drawio2pptx:shape:c85"/>
          <p:cNvSpPr/>
          <p:nvPr/>
        </p:nvSpPr>
        <p:spPr>
          <a:xfrm>
            <a:off x="5810250" y="3524250"/>
            <a:ext cx="4762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9AA5B1"/>
                </a:solidFill>
                <a:latin typeface="Arial"/>
              </a:rPr>
              <a:t>→</a:t>
            </a:r>
          </a:p>
        </p:txBody>
      </p:sp>
      <p:sp>
        <p:nvSpPr>
          <p:cNvPr id="21" name="drawio2pptx:shape:c86"/>
          <p:cNvSpPr/>
          <p:nvPr/>
        </p:nvSpPr>
        <p:spPr>
          <a:xfrm>
            <a:off x="6286500" y="3143250"/>
            <a:ext cx="2095500" cy="142875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drawio2pptx:shape:c87"/>
          <p:cNvSpPr/>
          <p:nvPr/>
        </p:nvSpPr>
        <p:spPr>
          <a:xfrm>
            <a:off x="6991350" y="3257550"/>
            <a:ext cx="6096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drawio2pptx:shape-image:c8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1350" y="3257550"/>
            <a:ext cx="609600" cy="609600"/>
          </a:xfrm>
          <a:prstGeom prst="rect">
            <a:avLst/>
          </a:prstGeom>
          <a:ln>
            <a:noFill/>
          </a:ln>
        </p:spPr>
      </p:pic>
      <p:sp>
        <p:nvSpPr>
          <p:cNvPr id="24" name="drawio2pptx:shape:c88"/>
          <p:cNvSpPr/>
          <p:nvPr/>
        </p:nvSpPr>
        <p:spPr>
          <a:xfrm>
            <a:off x="6286500" y="3905250"/>
            <a:ext cx="2095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4A5568"/>
                </a:solidFill>
                <a:latin typeface="微软雅黑"/>
              </a:rPr>
              <a:t>统一验收</a:t>
            </a:r>
          </a:p>
        </p:txBody>
      </p:sp>
      <p:sp>
        <p:nvSpPr>
          <p:cNvPr id="25" name="drawio2pptx:shape:c89"/>
          <p:cNvSpPr/>
          <p:nvPr/>
        </p:nvSpPr>
        <p:spPr>
          <a:xfrm>
            <a:off x="1143000" y="4762500"/>
            <a:ext cx="7239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4A5568"/>
                </a:solidFill>
                <a:latin typeface="微软雅黑"/>
              </a:rPr>
              <a:t>↺ 验收不过就再修，对着固定的门收敛</a:t>
            </a:r>
          </a:p>
        </p:txBody>
      </p:sp>
      <p:sp>
        <p:nvSpPr>
          <p:cNvPr id="26" name="drawio2pptx:shape:c90"/>
          <p:cNvSpPr/>
          <p:nvPr/>
        </p:nvSpPr>
        <p:spPr>
          <a:xfrm>
            <a:off x="857250" y="560070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drawio2pptx:shape:c91"/>
          <p:cNvSpPr/>
          <p:nvPr/>
        </p:nvSpPr>
        <p:spPr>
          <a:xfrm>
            <a:off x="1123950" y="5524500"/>
            <a:ext cx="75438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它会收敛、可以评估，但它本身不改进“怎么修”</a:t>
            </a:r>
          </a:p>
        </p:txBody>
      </p:sp>
      <p:sp>
        <p:nvSpPr>
          <p:cNvPr id="28" name="drawio2pptx:shape:c92"/>
          <p:cNvSpPr/>
          <p:nvPr/>
        </p:nvSpPr>
        <p:spPr>
          <a:xfrm>
            <a:off x="857250" y="626745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drawio2pptx:shape:c93"/>
          <p:cNvSpPr/>
          <p:nvPr/>
        </p:nvSpPr>
        <p:spPr>
          <a:xfrm>
            <a:off x="1123950" y="6191250"/>
            <a:ext cx="75438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产出只有账本记录：每个候选逐用例的修复与回归</a:t>
            </a:r>
          </a:p>
        </p:txBody>
      </p:sp>
      <p:sp>
        <p:nvSpPr>
          <p:cNvPr id="30" name="drawio2pptx:shape:c94"/>
          <p:cNvSpPr/>
          <p:nvPr/>
        </p:nvSpPr>
        <p:spPr>
          <a:xfrm>
            <a:off x="9429750" y="1619250"/>
            <a:ext cx="8191500" cy="51435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微软雅黑"/>
              </a:rPr>
              <a:t>设计循环：跨里程碑的大循环</a:t>
            </a:r>
          </a:p>
        </p:txBody>
      </p:sp>
      <p:sp>
        <p:nvSpPr>
          <p:cNvPr id="31" name="drawio2pptx:shape:c95"/>
          <p:cNvSpPr/>
          <p:nvPr/>
        </p:nvSpPr>
        <p:spPr>
          <a:xfrm>
            <a:off x="9620250" y="3048000"/>
            <a:ext cx="2857500" cy="1524000"/>
          </a:xfrm>
          <a:prstGeom prst="roundRect">
            <a:avLst/>
          </a:prstGeom>
          <a:solidFill>
            <a:srgbClr val="FFF4E8"/>
          </a:solidFill>
          <a:ln w="285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drawio2pptx:shape:c96"/>
          <p:cNvSpPr/>
          <p:nvPr/>
        </p:nvSpPr>
        <p:spPr>
          <a:xfrm>
            <a:off x="10744200" y="3181350"/>
            <a:ext cx="6096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3" name="drawio2pptx:shape-image:c9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4200" y="3181350"/>
            <a:ext cx="609600" cy="609600"/>
          </a:xfrm>
          <a:prstGeom prst="rect">
            <a:avLst/>
          </a:prstGeom>
          <a:ln>
            <a:noFill/>
          </a:ln>
        </p:spPr>
      </p:pic>
      <p:sp>
        <p:nvSpPr>
          <p:cNvPr id="34" name="drawio2pptx:shape:c97"/>
          <p:cNvSpPr/>
          <p:nvPr/>
        </p:nvSpPr>
        <p:spPr>
          <a:xfrm>
            <a:off x="9620250" y="3886200"/>
            <a:ext cx="2857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很多里程碑</a:t>
            </a:r>
          </a:p>
        </p:txBody>
      </p:sp>
      <p:sp>
        <p:nvSpPr>
          <p:cNvPr id="35" name="drawio2pptx:shape:c98"/>
          <p:cNvSpPr/>
          <p:nvPr/>
        </p:nvSpPr>
        <p:spPr>
          <a:xfrm>
            <a:off x="13620750" y="3048000"/>
            <a:ext cx="2857500" cy="1524000"/>
          </a:xfrm>
          <a:prstGeom prst="roundRect">
            <a:avLst/>
          </a:prstGeom>
          <a:solidFill>
            <a:srgbClr val="FFF4E8"/>
          </a:solidFill>
          <a:ln w="285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drawio2pptx:shape:c99"/>
          <p:cNvSpPr/>
          <p:nvPr/>
        </p:nvSpPr>
        <p:spPr>
          <a:xfrm>
            <a:off x="14744700" y="3181350"/>
            <a:ext cx="6096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drawio2pptx:shape-image:c9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44700" y="3181350"/>
            <a:ext cx="609600" cy="609600"/>
          </a:xfrm>
          <a:prstGeom prst="rect">
            <a:avLst/>
          </a:prstGeom>
          <a:ln>
            <a:noFill/>
          </a:ln>
        </p:spPr>
      </p:pic>
      <p:sp>
        <p:nvSpPr>
          <p:cNvPr id="38" name="drawio2pptx:shape:c100"/>
          <p:cNvSpPr/>
          <p:nvPr/>
        </p:nvSpPr>
        <p:spPr>
          <a:xfrm>
            <a:off x="13620750" y="3886200"/>
            <a:ext cx="2857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账本 + 错题库</a:t>
            </a:r>
          </a:p>
        </p:txBody>
      </p:sp>
      <p:sp>
        <p:nvSpPr>
          <p:cNvPr id="39" name="drawio2pptx:shape:c101"/>
          <p:cNvSpPr/>
          <p:nvPr/>
        </p:nvSpPr>
        <p:spPr>
          <a:xfrm>
            <a:off x="13620750" y="5524500"/>
            <a:ext cx="2857500" cy="1524000"/>
          </a:xfrm>
          <a:prstGeom prst="roundRect">
            <a:avLst/>
          </a:prstGeom>
          <a:solidFill>
            <a:srgbClr val="FFF4E8"/>
          </a:solidFill>
          <a:ln w="285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drawio2pptx:shape:c102"/>
          <p:cNvSpPr/>
          <p:nvPr/>
        </p:nvSpPr>
        <p:spPr>
          <a:xfrm>
            <a:off x="14744700" y="5657850"/>
            <a:ext cx="6096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1" name="drawio2pptx:shape-image:c10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44700" y="5657850"/>
            <a:ext cx="609600" cy="609600"/>
          </a:xfrm>
          <a:prstGeom prst="rect">
            <a:avLst/>
          </a:prstGeom>
          <a:ln>
            <a:noFill/>
          </a:ln>
        </p:spPr>
      </p:pic>
      <p:sp>
        <p:nvSpPr>
          <p:cNvPr id="42" name="drawio2pptx:shape:c103"/>
          <p:cNvSpPr/>
          <p:nvPr/>
        </p:nvSpPr>
        <p:spPr>
          <a:xfrm>
            <a:off x="13620750" y="6362700"/>
            <a:ext cx="2857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新版本的两张表</a:t>
            </a:r>
          </a:p>
        </p:txBody>
      </p:sp>
      <p:sp>
        <p:nvSpPr>
          <p:cNvPr id="43" name="drawio2pptx:shape:c104"/>
          <p:cNvSpPr/>
          <p:nvPr/>
        </p:nvSpPr>
        <p:spPr>
          <a:xfrm>
            <a:off x="9620250" y="5524500"/>
            <a:ext cx="2857500" cy="1524000"/>
          </a:xfrm>
          <a:prstGeom prst="roundRect">
            <a:avLst/>
          </a:prstGeom>
          <a:solidFill>
            <a:srgbClr val="FFF4E8"/>
          </a:solidFill>
          <a:ln w="285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drawio2pptx:shape:c105"/>
          <p:cNvSpPr/>
          <p:nvPr/>
        </p:nvSpPr>
        <p:spPr>
          <a:xfrm>
            <a:off x="10744200" y="5657850"/>
            <a:ext cx="6096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5" name="drawio2pptx:shape-image:c10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4200" y="5657850"/>
            <a:ext cx="609600" cy="609600"/>
          </a:xfrm>
          <a:prstGeom prst="rect">
            <a:avLst/>
          </a:prstGeom>
          <a:ln>
            <a:noFill/>
          </a:ln>
        </p:spPr>
      </p:pic>
      <p:sp>
        <p:nvSpPr>
          <p:cNvPr id="46" name="drawio2pptx:shape:c106"/>
          <p:cNvSpPr/>
          <p:nvPr/>
        </p:nvSpPr>
        <p:spPr>
          <a:xfrm>
            <a:off x="9620250" y="6362700"/>
            <a:ext cx="2857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回到下一批里程碑</a:t>
            </a:r>
          </a:p>
        </p:txBody>
      </p:sp>
      <p:sp>
        <p:nvSpPr>
          <p:cNvPr id="47" name="drawio2pptx:shape:c107"/>
          <p:cNvSpPr/>
          <p:nvPr/>
        </p:nvSpPr>
        <p:spPr>
          <a:xfrm>
            <a:off x="12573000" y="3476625"/>
            <a:ext cx="9525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F28C28"/>
                </a:solidFill>
                <a:latin typeface="Arial"/>
              </a:rPr>
              <a:t>→</a:t>
            </a:r>
          </a:p>
        </p:txBody>
      </p:sp>
      <p:sp>
        <p:nvSpPr>
          <p:cNvPr id="48" name="drawio2pptx:shape:c108"/>
          <p:cNvSpPr/>
          <p:nvPr/>
        </p:nvSpPr>
        <p:spPr>
          <a:xfrm>
            <a:off x="14716125" y="4667250"/>
            <a:ext cx="66675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F28C28"/>
                </a:solidFill>
                <a:latin typeface="Arial"/>
              </a:rPr>
              <a:t>↓</a:t>
            </a:r>
          </a:p>
        </p:txBody>
      </p:sp>
      <p:sp>
        <p:nvSpPr>
          <p:cNvPr id="49" name="drawio2pptx:shape:c109"/>
          <p:cNvSpPr/>
          <p:nvPr/>
        </p:nvSpPr>
        <p:spPr>
          <a:xfrm>
            <a:off x="12573000" y="5953125"/>
            <a:ext cx="9525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F28C28"/>
                </a:solidFill>
                <a:latin typeface="Arial"/>
              </a:rPr>
              <a:t>←</a:t>
            </a:r>
          </a:p>
        </p:txBody>
      </p:sp>
      <p:sp>
        <p:nvSpPr>
          <p:cNvPr id="50" name="drawio2pptx:shape:c110"/>
          <p:cNvSpPr/>
          <p:nvPr/>
        </p:nvSpPr>
        <p:spPr>
          <a:xfrm>
            <a:off x="10715625" y="4667250"/>
            <a:ext cx="66675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F28C28"/>
                </a:solidFill>
                <a:latin typeface="Arial"/>
              </a:rPr>
              <a:t>↑</a:t>
            </a:r>
          </a:p>
        </p:txBody>
      </p:sp>
      <p:sp>
        <p:nvSpPr>
          <p:cNvPr id="51" name="drawio2pptx:shape:c112"/>
          <p:cNvSpPr/>
          <p:nvPr/>
        </p:nvSpPr>
        <p:spPr>
          <a:xfrm>
            <a:off x="11668125" y="4791075"/>
            <a:ext cx="2762250" cy="51435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FFFFFF"/>
                </a:solidFill>
                <a:latin typeface="微软雅黑"/>
              </a:rPr>
              <a:t>递归在这里</a:t>
            </a:r>
          </a:p>
        </p:txBody>
      </p:sp>
      <p:sp>
        <p:nvSpPr>
          <p:cNvPr id="52" name="drawio2pptx:shape:c113"/>
          <p:cNvSpPr/>
          <p:nvPr/>
        </p:nvSpPr>
        <p:spPr>
          <a:xfrm>
            <a:off x="9620250" y="741045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drawio2pptx:shape:c114"/>
          <p:cNvSpPr/>
          <p:nvPr/>
        </p:nvSpPr>
        <p:spPr>
          <a:xfrm>
            <a:off x="9886950" y="7334250"/>
            <a:ext cx="77343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汇总很多里程碑的修复结果，改进剧本表和首轮兼容表</a:t>
            </a:r>
          </a:p>
        </p:txBody>
      </p:sp>
      <p:sp>
        <p:nvSpPr>
          <p:cNvPr id="54" name="drawio2pptx:shape:c115"/>
          <p:cNvSpPr/>
          <p:nvPr/>
        </p:nvSpPr>
        <p:spPr>
          <a:xfrm>
            <a:off x="9620250" y="807720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drawio2pptx:shape:c116"/>
          <p:cNvSpPr/>
          <p:nvPr/>
        </p:nvSpPr>
        <p:spPr>
          <a:xfrm>
            <a:off x="9886950" y="8001000"/>
            <a:ext cx="77343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新版本用于后面的题，又产生新数据，进入下一轮</a:t>
            </a:r>
          </a:p>
        </p:txBody>
      </p:sp>
      <p:sp>
        <p:nvSpPr>
          <p:cNvPr id="56" name="drawio2pptx:shape:c117"/>
          <p:cNvSpPr/>
          <p:nvPr/>
        </p:nvSpPr>
        <p:spPr>
          <a:xfrm>
            <a:off x="9620250" y="874395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drawio2pptx:shape:c118"/>
          <p:cNvSpPr/>
          <p:nvPr/>
        </p:nvSpPr>
        <p:spPr>
          <a:xfrm>
            <a:off x="9886950" y="8667750"/>
            <a:ext cx="77343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递归的对象是“改进机制”本身，不是某一次的代码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12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121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122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123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为什么算 RSI</a:t>
            </a:r>
          </a:p>
        </p:txBody>
      </p:sp>
      <p:sp>
        <p:nvSpPr>
          <p:cNvPr id="6" name="drawio2pptx:shape:c124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125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126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4 / 18</a:t>
            </a:r>
          </a:p>
        </p:txBody>
      </p:sp>
      <p:sp>
        <p:nvSpPr>
          <p:cNvPr id="9" name="drawio2pptx:shape:c127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WHY THIS COUNTS AS RSI</a:t>
            </a:r>
          </a:p>
        </p:txBody>
      </p:sp>
      <p:sp>
        <p:nvSpPr>
          <p:cNvPr id="10" name="drawio2pptx:shape:c128"/>
          <p:cNvSpPr/>
          <p:nvPr/>
        </p:nvSpPr>
        <p:spPr>
          <a:xfrm>
            <a:off x="666750" y="169545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drawio2pptx:shape:c129"/>
          <p:cNvSpPr/>
          <p:nvPr/>
        </p:nvSpPr>
        <p:spPr>
          <a:xfrm>
            <a:off x="933450" y="1619250"/>
            <a:ext cx="792480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递归：这一轮改进的产出（新表格）是下一轮改进的输入（新数据）</a:t>
            </a:r>
          </a:p>
        </p:txBody>
      </p:sp>
      <p:sp>
        <p:nvSpPr>
          <p:cNvPr id="12" name="drawio2pptx:shape:c130"/>
          <p:cNvSpPr/>
          <p:nvPr/>
        </p:nvSpPr>
        <p:spPr>
          <a:xfrm>
            <a:off x="666750" y="276225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drawio2pptx:shape:c131"/>
          <p:cNvSpPr/>
          <p:nvPr/>
        </p:nvSpPr>
        <p:spPr>
          <a:xfrm>
            <a:off x="933450" y="2686050"/>
            <a:ext cx="792480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自我：改什么、留什么，由进化 agent 提议、统计规则决定，运行期间人不逐条审批</a:t>
            </a:r>
          </a:p>
        </p:txBody>
      </p:sp>
      <p:sp>
        <p:nvSpPr>
          <p:cNvPr id="14" name="drawio2pptx:shape:c132"/>
          <p:cNvSpPr/>
          <p:nvPr/>
        </p:nvSpPr>
        <p:spPr>
          <a:xfrm>
            <a:off x="666750" y="382905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drawio2pptx:shape:c133"/>
          <p:cNvSpPr/>
          <p:nvPr/>
        </p:nvSpPr>
        <p:spPr>
          <a:xfrm>
            <a:off x="933450" y="3752850"/>
            <a:ext cx="792480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有界：评估器在每个循环内固定，并有外部锚点（held-out 绊线）</a:t>
            </a:r>
          </a:p>
        </p:txBody>
      </p:sp>
      <p:sp>
        <p:nvSpPr>
          <p:cNvPr id="16" name="drawio2pptx:shape:c134"/>
          <p:cNvSpPr/>
          <p:nvPr/>
        </p:nvSpPr>
        <p:spPr>
          <a:xfrm>
            <a:off x="666750" y="489585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drawio2pptx:shape:c135"/>
          <p:cNvSpPr/>
          <p:nvPr/>
        </p:nvSpPr>
        <p:spPr>
          <a:xfrm>
            <a:off x="933450" y="4819650"/>
            <a:ext cx="79248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人的角色：开始前设定目标、阈值和边界；不参与每一轮取舍</a:t>
            </a:r>
          </a:p>
        </p:txBody>
      </p:sp>
      <p:sp>
        <p:nvSpPr>
          <p:cNvPr id="18" name="drawio2pptx:shape:c136"/>
          <p:cNvSpPr/>
          <p:nvPr/>
        </p:nvSpPr>
        <p:spPr>
          <a:xfrm>
            <a:off x="666750" y="556260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drawio2pptx:shape:c137"/>
          <p:cNvSpPr/>
          <p:nvPr/>
        </p:nvSpPr>
        <p:spPr>
          <a:xfrm>
            <a:off x="933450" y="5486400"/>
            <a:ext cx="7924800" cy="933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定位：改进对象是“编排设计”，回路在表格层面闭合；评估器在慢循环中受外部锚点约束</a:t>
            </a:r>
          </a:p>
        </p:txBody>
      </p:sp>
      <p:sp>
        <p:nvSpPr>
          <p:cNvPr id="20" name="drawio2pptx:shape:c138"/>
          <p:cNvSpPr/>
          <p:nvPr/>
        </p:nvSpPr>
        <p:spPr>
          <a:xfrm>
            <a:off x="9906000" y="2190750"/>
            <a:ext cx="7429500" cy="609600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drawio2pptx:shape:c139"/>
          <p:cNvSpPr/>
          <p:nvPr/>
        </p:nvSpPr>
        <p:spPr>
          <a:xfrm>
            <a:off x="11049000" y="2476500"/>
            <a:ext cx="38100" cy="49530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drawio2pptx:shape:c140"/>
          <p:cNvSpPr/>
          <p:nvPr/>
        </p:nvSpPr>
        <p:spPr>
          <a:xfrm>
            <a:off x="11049000" y="7429500"/>
            <a:ext cx="5905500" cy="38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drawio2pptx:shape:c141"/>
          <p:cNvSpPr/>
          <p:nvPr/>
        </p:nvSpPr>
        <p:spPr>
          <a:xfrm>
            <a:off x="10191750" y="2286000"/>
            <a:ext cx="28575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170C1"/>
                </a:solidFill>
                <a:latin typeface="微软雅黑"/>
              </a:rPr>
              <a:t>回路闭合程度 ↑</a:t>
            </a:r>
          </a:p>
        </p:txBody>
      </p:sp>
      <p:sp>
        <p:nvSpPr>
          <p:cNvPr id="24" name="drawio2pptx:shape:c142"/>
          <p:cNvSpPr/>
          <p:nvPr/>
        </p:nvSpPr>
        <p:spPr>
          <a:xfrm>
            <a:off x="14478000" y="7943850"/>
            <a:ext cx="276225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170C1"/>
                </a:solidFill>
                <a:latin typeface="微软雅黑"/>
              </a:rPr>
              <a:t>改进什么 →</a:t>
            </a:r>
          </a:p>
        </p:txBody>
      </p:sp>
      <p:sp>
        <p:nvSpPr>
          <p:cNvPr id="25" name="drawio2pptx:shape:c143"/>
          <p:cNvSpPr/>
          <p:nvPr/>
        </p:nvSpPr>
        <p:spPr>
          <a:xfrm>
            <a:off x="10001250" y="2762250"/>
            <a:ext cx="1000125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闭环</a:t>
            </a:r>
          </a:p>
        </p:txBody>
      </p:sp>
      <p:sp>
        <p:nvSpPr>
          <p:cNvPr id="26" name="drawio2pptx:shape:c144"/>
          <p:cNvSpPr/>
          <p:nvPr/>
        </p:nvSpPr>
        <p:spPr>
          <a:xfrm>
            <a:off x="10001250" y="4286250"/>
            <a:ext cx="1000125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人在环上</a:t>
            </a:r>
          </a:p>
        </p:txBody>
      </p:sp>
      <p:sp>
        <p:nvSpPr>
          <p:cNvPr id="27" name="drawio2pptx:shape:c145"/>
          <p:cNvSpPr/>
          <p:nvPr/>
        </p:nvSpPr>
        <p:spPr>
          <a:xfrm>
            <a:off x="10001250" y="5810250"/>
            <a:ext cx="1000125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人在环中</a:t>
            </a:r>
          </a:p>
        </p:txBody>
      </p:sp>
      <p:sp>
        <p:nvSpPr>
          <p:cNvPr id="28" name="drawio2pptx:shape:c146"/>
          <p:cNvSpPr/>
          <p:nvPr/>
        </p:nvSpPr>
        <p:spPr>
          <a:xfrm>
            <a:off x="11144250" y="7524750"/>
            <a:ext cx="14287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部署行为</a:t>
            </a:r>
          </a:p>
        </p:txBody>
      </p:sp>
      <p:sp>
        <p:nvSpPr>
          <p:cNvPr id="29" name="drawio2pptx:shape:c147"/>
          <p:cNvSpPr/>
          <p:nvPr/>
        </p:nvSpPr>
        <p:spPr>
          <a:xfrm>
            <a:off x="12668250" y="7524750"/>
            <a:ext cx="14287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训练策略</a:t>
            </a:r>
          </a:p>
        </p:txBody>
      </p:sp>
      <p:sp>
        <p:nvSpPr>
          <p:cNvPr id="30" name="drawio2pptx:shape:c148"/>
          <p:cNvSpPr/>
          <p:nvPr/>
        </p:nvSpPr>
        <p:spPr>
          <a:xfrm>
            <a:off x="14192250" y="7524750"/>
            <a:ext cx="14287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评估器</a:t>
            </a:r>
          </a:p>
        </p:txBody>
      </p:sp>
      <p:sp>
        <p:nvSpPr>
          <p:cNvPr id="31" name="drawio2pptx:shape:c149"/>
          <p:cNvSpPr/>
          <p:nvPr/>
        </p:nvSpPr>
        <p:spPr>
          <a:xfrm>
            <a:off x="15716250" y="7524750"/>
            <a:ext cx="142875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研究过程</a:t>
            </a:r>
          </a:p>
        </p:txBody>
      </p:sp>
      <p:sp>
        <p:nvSpPr>
          <p:cNvPr id="32" name="drawio2pptx:shape:c150"/>
          <p:cNvSpPr/>
          <p:nvPr/>
        </p:nvSpPr>
        <p:spPr>
          <a:xfrm>
            <a:off x="11334750" y="5619750"/>
            <a:ext cx="952500" cy="952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drawio2pptx:shape:c151"/>
          <p:cNvSpPr/>
          <p:nvPr/>
        </p:nvSpPr>
        <p:spPr>
          <a:xfrm>
            <a:off x="11544300" y="582930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4" name="drawio2pptx:shape-image:c1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44300" y="582930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35" name="drawio2pptx:shape:c152"/>
          <p:cNvSpPr/>
          <p:nvPr/>
        </p:nvSpPr>
        <p:spPr>
          <a:xfrm>
            <a:off x="10953750" y="6572250"/>
            <a:ext cx="1714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9AA5B1"/>
                </a:solidFill>
                <a:latin typeface="微软雅黑"/>
              </a:rPr>
              <a:t>快速搜索</a:t>
            </a:r>
          </a:p>
        </p:txBody>
      </p:sp>
      <p:sp>
        <p:nvSpPr>
          <p:cNvPr id="36" name="drawio2pptx:shape:c153"/>
          <p:cNvSpPr/>
          <p:nvPr/>
        </p:nvSpPr>
        <p:spPr>
          <a:xfrm>
            <a:off x="12858750" y="2571750"/>
            <a:ext cx="952500" cy="952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drawio2pptx:shape:c154"/>
          <p:cNvSpPr/>
          <p:nvPr/>
        </p:nvSpPr>
        <p:spPr>
          <a:xfrm>
            <a:off x="13068300" y="278130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8" name="drawio2pptx:shape-image:c15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68300" y="278130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39" name="drawio2pptx:shape:c155"/>
          <p:cNvSpPr/>
          <p:nvPr/>
        </p:nvSpPr>
        <p:spPr>
          <a:xfrm>
            <a:off x="12477750" y="3524250"/>
            <a:ext cx="1714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F28C28"/>
                </a:solidFill>
                <a:latin typeface="微软雅黑"/>
              </a:rPr>
              <a:t>设计循环</a:t>
            </a:r>
          </a:p>
        </p:txBody>
      </p:sp>
      <p:sp>
        <p:nvSpPr>
          <p:cNvPr id="40" name="drawio2pptx:shape:c156"/>
          <p:cNvSpPr/>
          <p:nvPr/>
        </p:nvSpPr>
        <p:spPr>
          <a:xfrm>
            <a:off x="14382750" y="4095750"/>
            <a:ext cx="952500" cy="95250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drawio2pptx:shape:c157"/>
          <p:cNvSpPr/>
          <p:nvPr/>
        </p:nvSpPr>
        <p:spPr>
          <a:xfrm>
            <a:off x="14592300" y="430530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2" name="drawio2pptx:shape-image:c15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92300" y="430530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43" name="drawio2pptx:shape:c158"/>
          <p:cNvSpPr/>
          <p:nvPr/>
        </p:nvSpPr>
        <p:spPr>
          <a:xfrm>
            <a:off x="14001750" y="5048250"/>
            <a:ext cx="1714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0170C1"/>
                </a:solidFill>
                <a:latin typeface="微软雅黑"/>
              </a:rPr>
              <a:t>慢循环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16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161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162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163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什么进化，什么不进化</a:t>
            </a:r>
          </a:p>
        </p:txBody>
      </p:sp>
      <p:sp>
        <p:nvSpPr>
          <p:cNvPr id="6" name="drawio2pptx:shape:c164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165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166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5 / 18</a:t>
            </a:r>
          </a:p>
        </p:txBody>
      </p:sp>
      <p:sp>
        <p:nvSpPr>
          <p:cNvPr id="9" name="drawio2pptx:shape:c167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WHAT MAY CHANGE</a:t>
            </a:r>
          </a:p>
        </p:txBody>
      </p:sp>
      <p:sp>
        <p:nvSpPr>
          <p:cNvPr id="10" name="drawio2pptx:shape:c168"/>
          <p:cNvSpPr/>
          <p:nvPr/>
        </p:nvSpPr>
        <p:spPr>
          <a:xfrm>
            <a:off x="857250" y="1714500"/>
            <a:ext cx="16573500" cy="8001000"/>
          </a:xfrm>
          <a:prstGeom prst="roundRect">
            <a:avLst/>
          </a:prstGeom>
          <a:solidFill>
            <a:srgbClr val="F1F3F6"/>
          </a:solidFill>
          <a:ln w="285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drawio2pptx:shape:c169"/>
          <p:cNvSpPr/>
          <p:nvPr/>
        </p:nvSpPr>
        <p:spPr>
          <a:xfrm>
            <a:off x="1085850" y="1809750"/>
            <a:ext cx="4762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4A5568"/>
                </a:solidFill>
                <a:latin typeface="微软雅黑"/>
              </a:rPr>
              <a:t>固定区（不进化）</a:t>
            </a:r>
          </a:p>
        </p:txBody>
      </p:sp>
      <p:sp>
        <p:nvSpPr>
          <p:cNvPr id="12" name="drawio2pptx:shape:c170"/>
          <p:cNvSpPr/>
          <p:nvPr/>
        </p:nvSpPr>
        <p:spPr>
          <a:xfrm>
            <a:off x="1238250" y="247650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drawio2pptx:shape-image:c17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" y="247650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14" name="drawio2pptx:shape:c171"/>
          <p:cNvSpPr/>
          <p:nvPr/>
        </p:nvSpPr>
        <p:spPr>
          <a:xfrm>
            <a:off x="1905000" y="2476500"/>
            <a:ext cx="72390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4A5568"/>
                </a:solidFill>
                <a:latin typeface="微软雅黑"/>
              </a:rPr>
              <a:t>标准流程：探针、路由诊断、R0、统一验收</a:t>
            </a:r>
          </a:p>
        </p:txBody>
      </p:sp>
      <p:sp>
        <p:nvSpPr>
          <p:cNvPr id="15" name="drawio2pptx:shape:c172"/>
          <p:cNvSpPr/>
          <p:nvPr/>
        </p:nvSpPr>
        <p:spPr>
          <a:xfrm>
            <a:off x="9429750" y="247650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" name="drawio2pptx:shape-image:c17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0" y="247650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17" name="drawio2pptx:shape:c173"/>
          <p:cNvSpPr/>
          <p:nvPr/>
        </p:nvSpPr>
        <p:spPr>
          <a:xfrm>
            <a:off x="10096500" y="2476500"/>
            <a:ext cx="72390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4A5568"/>
                </a:solidFill>
                <a:latin typeface="微软雅黑"/>
              </a:rPr>
              <a:t>验收门与守卫：custody、包影子、环境清理、零分守卫</a:t>
            </a:r>
          </a:p>
        </p:txBody>
      </p:sp>
      <p:sp>
        <p:nvSpPr>
          <p:cNvPr id="18" name="drawio2pptx:shape:c174"/>
          <p:cNvSpPr/>
          <p:nvPr/>
        </p:nvSpPr>
        <p:spPr>
          <a:xfrm>
            <a:off x="1238250" y="342900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drawio2pptx:shape-image:c17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250" y="342900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20" name="drawio2pptx:shape:c175"/>
          <p:cNvSpPr/>
          <p:nvPr/>
        </p:nvSpPr>
        <p:spPr>
          <a:xfrm>
            <a:off x="1905000" y="3429000"/>
            <a:ext cx="72390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4A5568"/>
                </a:solidFill>
                <a:latin typeface="微软雅黑"/>
              </a:rPr>
              <a:t>held-out 隔离：密封，只有绊线能读</a:t>
            </a:r>
          </a:p>
        </p:txBody>
      </p:sp>
      <p:sp>
        <p:nvSpPr>
          <p:cNvPr id="21" name="drawio2pptx:shape:c176"/>
          <p:cNvSpPr/>
          <p:nvPr/>
        </p:nvSpPr>
        <p:spPr>
          <a:xfrm>
            <a:off x="9429750" y="342900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drawio2pptx:shape-image:c17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29750" y="342900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23" name="drawio2pptx:shape:c177"/>
          <p:cNvSpPr/>
          <p:nvPr/>
        </p:nvSpPr>
        <p:spPr>
          <a:xfrm>
            <a:off x="10096500" y="3429000"/>
            <a:ext cx="72390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4A5568"/>
                </a:solidFill>
                <a:latin typeface="微软雅黑"/>
              </a:rPr>
              <a:t>进化 agent 本身：提示词、校验器、预算</a:t>
            </a:r>
          </a:p>
        </p:txBody>
      </p:sp>
      <p:sp>
        <p:nvSpPr>
          <p:cNvPr id="24" name="drawio2pptx:shape:c178"/>
          <p:cNvSpPr/>
          <p:nvPr/>
        </p:nvSpPr>
        <p:spPr>
          <a:xfrm>
            <a:off x="1428750" y="4572000"/>
            <a:ext cx="15430500" cy="247650"/>
          </a:xfrm>
          <a:prstGeom prst="rect">
            <a:avLst/>
          </a:prstGeom>
          <a:solidFill>
            <a:srgbClr val="B55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drawio2pptx:shape:c179"/>
          <p:cNvSpPr/>
          <p:nvPr/>
        </p:nvSpPr>
        <p:spPr>
          <a:xfrm>
            <a:off x="1428750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drawio2pptx:shape:c180"/>
          <p:cNvSpPr/>
          <p:nvPr/>
        </p:nvSpPr>
        <p:spPr>
          <a:xfrm>
            <a:off x="2428875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drawio2pptx:shape:c181"/>
          <p:cNvSpPr/>
          <p:nvPr/>
        </p:nvSpPr>
        <p:spPr>
          <a:xfrm>
            <a:off x="2762250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drawio2pptx:shape:c182"/>
          <p:cNvSpPr/>
          <p:nvPr/>
        </p:nvSpPr>
        <p:spPr>
          <a:xfrm>
            <a:off x="3762375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drawio2pptx:shape:c183"/>
          <p:cNvSpPr/>
          <p:nvPr/>
        </p:nvSpPr>
        <p:spPr>
          <a:xfrm>
            <a:off x="4095750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drawio2pptx:shape:c184"/>
          <p:cNvSpPr/>
          <p:nvPr/>
        </p:nvSpPr>
        <p:spPr>
          <a:xfrm>
            <a:off x="5095875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drawio2pptx:shape:c185"/>
          <p:cNvSpPr/>
          <p:nvPr/>
        </p:nvSpPr>
        <p:spPr>
          <a:xfrm>
            <a:off x="5429250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drawio2pptx:shape:c186"/>
          <p:cNvSpPr/>
          <p:nvPr/>
        </p:nvSpPr>
        <p:spPr>
          <a:xfrm>
            <a:off x="6429375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drawio2pptx:shape:c187"/>
          <p:cNvSpPr/>
          <p:nvPr/>
        </p:nvSpPr>
        <p:spPr>
          <a:xfrm>
            <a:off x="6762750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drawio2pptx:shape:c188"/>
          <p:cNvSpPr/>
          <p:nvPr/>
        </p:nvSpPr>
        <p:spPr>
          <a:xfrm>
            <a:off x="7762875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drawio2pptx:shape:c189"/>
          <p:cNvSpPr/>
          <p:nvPr/>
        </p:nvSpPr>
        <p:spPr>
          <a:xfrm>
            <a:off x="8096250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drawio2pptx:shape:c190"/>
          <p:cNvSpPr/>
          <p:nvPr/>
        </p:nvSpPr>
        <p:spPr>
          <a:xfrm>
            <a:off x="9096375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drawio2pptx:shape:c191"/>
          <p:cNvSpPr/>
          <p:nvPr/>
        </p:nvSpPr>
        <p:spPr>
          <a:xfrm>
            <a:off x="9429750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drawio2pptx:shape:c192"/>
          <p:cNvSpPr/>
          <p:nvPr/>
        </p:nvSpPr>
        <p:spPr>
          <a:xfrm>
            <a:off x="10429875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drawio2pptx:shape:c193"/>
          <p:cNvSpPr/>
          <p:nvPr/>
        </p:nvSpPr>
        <p:spPr>
          <a:xfrm>
            <a:off x="10763250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drawio2pptx:shape:c194"/>
          <p:cNvSpPr/>
          <p:nvPr/>
        </p:nvSpPr>
        <p:spPr>
          <a:xfrm>
            <a:off x="11763375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drawio2pptx:shape:c195"/>
          <p:cNvSpPr/>
          <p:nvPr/>
        </p:nvSpPr>
        <p:spPr>
          <a:xfrm>
            <a:off x="12096750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drawio2pptx:shape:c196"/>
          <p:cNvSpPr/>
          <p:nvPr/>
        </p:nvSpPr>
        <p:spPr>
          <a:xfrm>
            <a:off x="13096875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drawio2pptx:shape:c197"/>
          <p:cNvSpPr/>
          <p:nvPr/>
        </p:nvSpPr>
        <p:spPr>
          <a:xfrm>
            <a:off x="13430250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drawio2pptx:shape:c198"/>
          <p:cNvSpPr/>
          <p:nvPr/>
        </p:nvSpPr>
        <p:spPr>
          <a:xfrm>
            <a:off x="14430375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drawio2pptx:shape:c199"/>
          <p:cNvSpPr/>
          <p:nvPr/>
        </p:nvSpPr>
        <p:spPr>
          <a:xfrm>
            <a:off x="14763750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drawio2pptx:shape:c200"/>
          <p:cNvSpPr/>
          <p:nvPr/>
        </p:nvSpPr>
        <p:spPr>
          <a:xfrm>
            <a:off x="15763875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drawio2pptx:shape:c201"/>
          <p:cNvSpPr/>
          <p:nvPr/>
        </p:nvSpPr>
        <p:spPr>
          <a:xfrm>
            <a:off x="16097250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drawio2pptx:shape:c202"/>
          <p:cNvSpPr/>
          <p:nvPr/>
        </p:nvSpPr>
        <p:spPr>
          <a:xfrm>
            <a:off x="17097375" y="4572000"/>
            <a:ext cx="19050" cy="247650"/>
          </a:xfrm>
          <a:prstGeom prst="rect">
            <a:avLst/>
          </a:prstGeom>
          <a:solidFill>
            <a:srgbClr val="F1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drawio2pptx:shape:c203"/>
          <p:cNvSpPr/>
          <p:nvPr/>
        </p:nvSpPr>
        <p:spPr>
          <a:xfrm>
            <a:off x="16002000" y="4267200"/>
            <a:ext cx="4191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0" name="drawio2pptx:shape-image:c20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002000" y="4267200"/>
            <a:ext cx="419100" cy="419100"/>
          </a:xfrm>
          <a:prstGeom prst="rect">
            <a:avLst/>
          </a:prstGeom>
          <a:ln>
            <a:noFill/>
          </a:ln>
        </p:spPr>
      </p:pic>
      <p:sp>
        <p:nvSpPr>
          <p:cNvPr id="51" name="drawio2pptx:shape:c204"/>
          <p:cNvSpPr/>
          <p:nvPr/>
        </p:nvSpPr>
        <p:spPr>
          <a:xfrm>
            <a:off x="1428750" y="4857750"/>
            <a:ext cx="15430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B55F1F"/>
                </a:solidFill>
                <a:latin typeface="微软雅黑"/>
              </a:rPr>
              <a:t>墙：进化 agent 不可越过（只能提议表格行；不能改代码、门、守卫、出题者、规划器）</a:t>
            </a:r>
          </a:p>
        </p:txBody>
      </p:sp>
      <p:sp>
        <p:nvSpPr>
          <p:cNvPr id="52" name="drawio2pptx:shape:c205"/>
          <p:cNvSpPr/>
          <p:nvPr/>
        </p:nvSpPr>
        <p:spPr>
          <a:xfrm>
            <a:off x="1428750" y="5524500"/>
            <a:ext cx="15430500" cy="3810000"/>
          </a:xfrm>
          <a:prstGeom prst="roundRect">
            <a:avLst/>
          </a:prstGeom>
          <a:solidFill>
            <a:srgbClr val="E8F1FA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drawio2pptx:shape:c206"/>
          <p:cNvSpPr/>
          <p:nvPr/>
        </p:nvSpPr>
        <p:spPr>
          <a:xfrm>
            <a:off x="1657350" y="5619750"/>
            <a:ext cx="4762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0170C1"/>
                </a:solidFill>
                <a:latin typeface="微软雅黑"/>
              </a:rPr>
              <a:t>可进化区</a:t>
            </a:r>
          </a:p>
        </p:txBody>
      </p:sp>
      <p:sp>
        <p:nvSpPr>
          <p:cNvPr id="54" name="drawio2pptx:shape:c207"/>
          <p:cNvSpPr/>
          <p:nvPr/>
        </p:nvSpPr>
        <p:spPr>
          <a:xfrm>
            <a:off x="2000250" y="6286500"/>
            <a:ext cx="3238500" cy="247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drawio2pptx:shape:c208"/>
          <p:cNvSpPr/>
          <p:nvPr/>
        </p:nvSpPr>
        <p:spPr>
          <a:xfrm>
            <a:off x="3276600" y="6477000"/>
            <a:ext cx="685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6" name="drawio2pptx:shape-image:c20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76600" y="6477000"/>
            <a:ext cx="685800" cy="685800"/>
          </a:xfrm>
          <a:prstGeom prst="rect">
            <a:avLst/>
          </a:prstGeom>
          <a:ln>
            <a:noFill/>
          </a:ln>
        </p:spPr>
      </p:pic>
      <p:sp>
        <p:nvSpPr>
          <p:cNvPr id="57" name="drawio2pptx:shape:c209"/>
          <p:cNvSpPr/>
          <p:nvPr/>
        </p:nvSpPr>
        <p:spPr>
          <a:xfrm>
            <a:off x="2000250" y="7334250"/>
            <a:ext cx="3238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1A1A2E"/>
                </a:solidFill>
                <a:latin typeface="微软雅黑"/>
              </a:rPr>
              <a:t>修复剧本表</a:t>
            </a:r>
          </a:p>
        </p:txBody>
      </p:sp>
      <p:sp>
        <p:nvSpPr>
          <p:cNvPr id="58" name="drawio2pptx:shape:c210"/>
          <p:cNvSpPr/>
          <p:nvPr/>
        </p:nvSpPr>
        <p:spPr>
          <a:xfrm>
            <a:off x="2000250" y="7905750"/>
            <a:ext cx="3238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表格行</a:t>
            </a:r>
          </a:p>
        </p:txBody>
      </p:sp>
      <p:sp>
        <p:nvSpPr>
          <p:cNvPr id="59" name="drawio2pptx:shape:c211"/>
          <p:cNvSpPr/>
          <p:nvPr/>
        </p:nvSpPr>
        <p:spPr>
          <a:xfrm>
            <a:off x="5810250" y="6286500"/>
            <a:ext cx="3238500" cy="247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drawio2pptx:shape:c212"/>
          <p:cNvSpPr/>
          <p:nvPr/>
        </p:nvSpPr>
        <p:spPr>
          <a:xfrm>
            <a:off x="7086600" y="6477000"/>
            <a:ext cx="685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1" name="drawio2pptx:shape-image:c2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6477000"/>
            <a:ext cx="685800" cy="685800"/>
          </a:xfrm>
          <a:prstGeom prst="rect">
            <a:avLst/>
          </a:prstGeom>
          <a:ln>
            <a:noFill/>
          </a:ln>
        </p:spPr>
      </p:pic>
      <p:sp>
        <p:nvSpPr>
          <p:cNvPr id="62" name="drawio2pptx:shape:c213"/>
          <p:cNvSpPr/>
          <p:nvPr/>
        </p:nvSpPr>
        <p:spPr>
          <a:xfrm>
            <a:off x="5810250" y="7334250"/>
            <a:ext cx="3238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1A1A2E"/>
                </a:solidFill>
                <a:latin typeface="微软雅黑"/>
              </a:rPr>
              <a:t>首轮兼容表</a:t>
            </a:r>
          </a:p>
        </p:txBody>
      </p:sp>
      <p:sp>
        <p:nvSpPr>
          <p:cNvPr id="63" name="drawio2pptx:shape:c214"/>
          <p:cNvSpPr/>
          <p:nvPr/>
        </p:nvSpPr>
        <p:spPr>
          <a:xfrm>
            <a:off x="5810250" y="7905750"/>
            <a:ext cx="3238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表格行</a:t>
            </a:r>
          </a:p>
        </p:txBody>
      </p:sp>
      <p:sp>
        <p:nvSpPr>
          <p:cNvPr id="64" name="drawio2pptx:shape:c215"/>
          <p:cNvSpPr/>
          <p:nvPr/>
        </p:nvSpPr>
        <p:spPr>
          <a:xfrm>
            <a:off x="9620250" y="6286500"/>
            <a:ext cx="3238500" cy="247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drawio2pptx:shape:c216"/>
          <p:cNvSpPr/>
          <p:nvPr/>
        </p:nvSpPr>
        <p:spPr>
          <a:xfrm>
            <a:off x="10896600" y="6477000"/>
            <a:ext cx="685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6" name="drawio2pptx:shape-image:c2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96600" y="6477000"/>
            <a:ext cx="685800" cy="685800"/>
          </a:xfrm>
          <a:prstGeom prst="rect">
            <a:avLst/>
          </a:prstGeom>
          <a:ln>
            <a:noFill/>
          </a:ln>
        </p:spPr>
      </p:pic>
      <p:sp>
        <p:nvSpPr>
          <p:cNvPr id="67" name="drawio2pptx:shape:c217"/>
          <p:cNvSpPr/>
          <p:nvPr/>
        </p:nvSpPr>
        <p:spPr>
          <a:xfrm>
            <a:off x="9620250" y="7334250"/>
            <a:ext cx="3238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1A1A2E"/>
                </a:solidFill>
                <a:latin typeface="微软雅黑"/>
              </a:rPr>
              <a:t>出题者提示词</a:t>
            </a:r>
          </a:p>
        </p:txBody>
      </p:sp>
      <p:sp>
        <p:nvSpPr>
          <p:cNvPr id="68" name="drawio2pptx:shape:c218"/>
          <p:cNvSpPr/>
          <p:nvPr/>
        </p:nvSpPr>
        <p:spPr>
          <a:xfrm>
            <a:off x="9620250" y="7905750"/>
            <a:ext cx="3238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慢循环，待实现</a:t>
            </a:r>
          </a:p>
        </p:txBody>
      </p:sp>
      <p:sp>
        <p:nvSpPr>
          <p:cNvPr id="69" name="drawio2pptx:shape:c219"/>
          <p:cNvSpPr/>
          <p:nvPr/>
        </p:nvSpPr>
        <p:spPr>
          <a:xfrm>
            <a:off x="13430250" y="6286500"/>
            <a:ext cx="3238500" cy="24765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drawio2pptx:shape:c220"/>
          <p:cNvSpPr/>
          <p:nvPr/>
        </p:nvSpPr>
        <p:spPr>
          <a:xfrm>
            <a:off x="14706600" y="6477000"/>
            <a:ext cx="685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1" name="drawio2pptx:shape-image:c22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4706600" y="6477000"/>
            <a:ext cx="685800" cy="685800"/>
          </a:xfrm>
          <a:prstGeom prst="rect">
            <a:avLst/>
          </a:prstGeom>
          <a:ln>
            <a:noFill/>
          </a:ln>
        </p:spPr>
      </p:pic>
      <p:sp>
        <p:nvSpPr>
          <p:cNvPr id="72" name="drawio2pptx:shape:c221"/>
          <p:cNvSpPr/>
          <p:nvPr/>
        </p:nvSpPr>
        <p:spPr>
          <a:xfrm>
            <a:off x="13430250" y="7334250"/>
            <a:ext cx="3238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1A1A2E"/>
                </a:solidFill>
                <a:latin typeface="微软雅黑"/>
              </a:rPr>
              <a:t>规划器</a:t>
            </a:r>
          </a:p>
        </p:txBody>
      </p:sp>
      <p:sp>
        <p:nvSpPr>
          <p:cNvPr id="73" name="drawio2pptx:shape:c222"/>
          <p:cNvSpPr/>
          <p:nvPr/>
        </p:nvSpPr>
        <p:spPr>
          <a:xfrm>
            <a:off x="13430250" y="7905750"/>
            <a:ext cx="3238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外层循环，待实现</a:t>
            </a:r>
          </a:p>
        </p:txBody>
      </p:sp>
      <p:sp>
        <p:nvSpPr>
          <p:cNvPr id="74" name="drawio2pptx:shape:c223"/>
          <p:cNvSpPr/>
          <p:nvPr/>
        </p:nvSpPr>
        <p:spPr>
          <a:xfrm>
            <a:off x="1238250" y="9144000"/>
            <a:ext cx="15811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A1A2E"/>
                </a:solidFill>
                <a:latin typeface="微软雅黑"/>
              </a:rPr>
              <a:t>原则：测量工具和安全机制在可修改范围之外，否则进化可能学会“绕过门”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225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226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227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228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用什么载体进化：表格为主</a:t>
            </a:r>
          </a:p>
        </p:txBody>
      </p:sp>
      <p:sp>
        <p:nvSpPr>
          <p:cNvPr id="6" name="drawio2pptx:shape:c229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230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231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6 / 18</a:t>
            </a:r>
          </a:p>
        </p:txBody>
      </p:sp>
      <p:sp>
        <p:nvSpPr>
          <p:cNvPr id="9" name="drawio2pptx:shape:c232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THE CARRIER</a:t>
            </a:r>
          </a:p>
        </p:txBody>
      </p:sp>
      <p:sp>
        <p:nvSpPr>
          <p:cNvPr id="10" name="drawio2pptx:shape:c233"/>
          <p:cNvSpPr/>
          <p:nvPr/>
        </p:nvSpPr>
        <p:spPr>
          <a:xfrm>
            <a:off x="666750" y="1666875"/>
            <a:ext cx="2571750" cy="219075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drawio2pptx:shape:c234"/>
          <p:cNvSpPr/>
          <p:nvPr/>
        </p:nvSpPr>
        <p:spPr>
          <a:xfrm>
            <a:off x="1609725" y="1809750"/>
            <a:ext cx="685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drawio2pptx:shape-image:c23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" y="1809750"/>
            <a:ext cx="685800" cy="685800"/>
          </a:xfrm>
          <a:prstGeom prst="rect">
            <a:avLst/>
          </a:prstGeom>
          <a:ln>
            <a:noFill/>
          </a:ln>
        </p:spPr>
      </p:pic>
      <p:sp>
        <p:nvSpPr>
          <p:cNvPr id="13" name="drawio2pptx:shape:c235"/>
          <p:cNvSpPr/>
          <p:nvPr/>
        </p:nvSpPr>
        <p:spPr>
          <a:xfrm>
            <a:off x="666750" y="2524125"/>
            <a:ext cx="257175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9AA5B1"/>
                </a:solidFill>
                <a:latin typeface="微软雅黑"/>
              </a:rPr>
              <a:t>代码</a:t>
            </a:r>
          </a:p>
        </p:txBody>
      </p:sp>
      <p:sp>
        <p:nvSpPr>
          <p:cNvPr id="14" name="drawio2pptx:shape:c236"/>
          <p:cNvSpPr/>
          <p:nvPr/>
        </p:nvSpPr>
        <p:spPr>
          <a:xfrm>
            <a:off x="800100" y="2971800"/>
            <a:ext cx="230505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表达力强，但难审计，容易改坏护栏</a:t>
            </a:r>
          </a:p>
        </p:txBody>
      </p:sp>
      <p:sp>
        <p:nvSpPr>
          <p:cNvPr id="15" name="drawio2pptx:shape:c237"/>
          <p:cNvSpPr/>
          <p:nvPr/>
        </p:nvSpPr>
        <p:spPr>
          <a:xfrm>
            <a:off x="3429000" y="1666875"/>
            <a:ext cx="2571750" cy="219075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drawio2pptx:shape:c238"/>
          <p:cNvSpPr/>
          <p:nvPr/>
        </p:nvSpPr>
        <p:spPr>
          <a:xfrm>
            <a:off x="4371975" y="1809750"/>
            <a:ext cx="685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7" name="drawio2pptx:shape-image:c23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1975" y="1809750"/>
            <a:ext cx="685800" cy="685800"/>
          </a:xfrm>
          <a:prstGeom prst="rect">
            <a:avLst/>
          </a:prstGeom>
          <a:ln>
            <a:noFill/>
          </a:ln>
        </p:spPr>
      </p:pic>
      <p:sp>
        <p:nvSpPr>
          <p:cNvPr id="18" name="drawio2pptx:shape:c239"/>
          <p:cNvSpPr/>
          <p:nvPr/>
        </p:nvSpPr>
        <p:spPr>
          <a:xfrm>
            <a:off x="3429000" y="2524125"/>
            <a:ext cx="257175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9AA5B1"/>
                </a:solidFill>
                <a:latin typeface="微软雅黑"/>
              </a:rPr>
              <a:t>提示词</a:t>
            </a:r>
          </a:p>
        </p:txBody>
      </p:sp>
      <p:sp>
        <p:nvSpPr>
          <p:cNvPr id="19" name="drawio2pptx:shape:c240"/>
          <p:cNvSpPr/>
          <p:nvPr/>
        </p:nvSpPr>
        <p:spPr>
          <a:xfrm>
            <a:off x="3562350" y="2971800"/>
            <a:ext cx="230505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灵活，但是否有效只能靠完整运行判断</a:t>
            </a:r>
          </a:p>
        </p:txBody>
      </p:sp>
      <p:sp>
        <p:nvSpPr>
          <p:cNvPr id="20" name="drawio2pptx:shape:c241"/>
          <p:cNvSpPr/>
          <p:nvPr/>
        </p:nvSpPr>
        <p:spPr>
          <a:xfrm>
            <a:off x="6191250" y="1666875"/>
            <a:ext cx="2571750" cy="2190750"/>
          </a:xfrm>
          <a:prstGeom prst="roundRect">
            <a:avLst/>
          </a:prstGeom>
          <a:solidFill>
            <a:srgbClr val="E8F1FA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drawio2pptx:shape:c242"/>
          <p:cNvSpPr/>
          <p:nvPr/>
        </p:nvSpPr>
        <p:spPr>
          <a:xfrm>
            <a:off x="7134225" y="1809750"/>
            <a:ext cx="685800" cy="685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2" name="drawio2pptx:shape-image:c2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4225" y="1809750"/>
            <a:ext cx="685800" cy="685800"/>
          </a:xfrm>
          <a:prstGeom prst="rect">
            <a:avLst/>
          </a:prstGeom>
          <a:ln>
            <a:noFill/>
          </a:ln>
        </p:spPr>
      </p:pic>
      <p:sp>
        <p:nvSpPr>
          <p:cNvPr id="23" name="drawio2pptx:shape:c243"/>
          <p:cNvSpPr/>
          <p:nvPr/>
        </p:nvSpPr>
        <p:spPr>
          <a:xfrm>
            <a:off x="6191250" y="2524125"/>
            <a:ext cx="257175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0170C1"/>
                </a:solidFill>
                <a:latin typeface="微软雅黑"/>
              </a:rPr>
              <a:t>表格</a:t>
            </a:r>
          </a:p>
        </p:txBody>
      </p:sp>
      <p:sp>
        <p:nvSpPr>
          <p:cNvPr id="24" name="drawio2pptx:shape:c244"/>
          <p:cNvSpPr/>
          <p:nvPr/>
        </p:nvSpPr>
        <p:spPr>
          <a:xfrm>
            <a:off x="6324600" y="2971800"/>
            <a:ext cx="230505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每行可校验、可比较、可回滚</a:t>
            </a:r>
          </a:p>
        </p:txBody>
      </p:sp>
      <p:sp>
        <p:nvSpPr>
          <p:cNvPr id="25" name="drawio2pptx:shape:c245"/>
          <p:cNvSpPr/>
          <p:nvPr/>
        </p:nvSpPr>
        <p:spPr>
          <a:xfrm>
            <a:off x="666750" y="4267200"/>
            <a:ext cx="76200" cy="23812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drawio2pptx:shape:c246"/>
          <p:cNvSpPr/>
          <p:nvPr/>
        </p:nvSpPr>
        <p:spPr>
          <a:xfrm>
            <a:off x="933450" y="4191000"/>
            <a:ext cx="7924800" cy="9048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A1A2E"/>
                </a:solidFill>
                <a:latin typeface="微软雅黑"/>
              </a:rPr>
              <a:t>剧本和首轮设计用表格；进化 agent 输出 YAML 行，方案类行附固定格式的说明文本</a:t>
            </a:r>
          </a:p>
        </p:txBody>
      </p:sp>
      <p:sp>
        <p:nvSpPr>
          <p:cNvPr id="27" name="drawio2pptx:shape:c247"/>
          <p:cNvSpPr/>
          <p:nvPr/>
        </p:nvSpPr>
        <p:spPr>
          <a:xfrm>
            <a:off x="666750" y="5305425"/>
            <a:ext cx="76200" cy="23812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drawio2pptx:shape:c248"/>
          <p:cNvSpPr/>
          <p:nvPr/>
        </p:nvSpPr>
        <p:spPr>
          <a:xfrm>
            <a:off x="933450" y="5229225"/>
            <a:ext cx="7924800" cy="514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A1A2E"/>
                </a:solidFill>
                <a:latin typeface="微软雅黑"/>
              </a:rPr>
              <a:t>出题者用提示词，放在最慢的循环里</a:t>
            </a:r>
          </a:p>
        </p:txBody>
      </p:sp>
      <p:sp>
        <p:nvSpPr>
          <p:cNvPr id="29" name="drawio2pptx:shape:c249"/>
          <p:cNvSpPr/>
          <p:nvPr/>
        </p:nvSpPr>
        <p:spPr>
          <a:xfrm>
            <a:off x="666750" y="5953125"/>
            <a:ext cx="76200" cy="23812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drawio2pptx:shape:c250"/>
          <p:cNvSpPr/>
          <p:nvPr/>
        </p:nvSpPr>
        <p:spPr>
          <a:xfrm>
            <a:off x="933450" y="5876925"/>
            <a:ext cx="7924800" cy="514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A1A2E"/>
                </a:solidFill>
                <a:latin typeface="微软雅黑"/>
              </a:rPr>
              <a:t>代码不进化</a:t>
            </a:r>
          </a:p>
        </p:txBody>
      </p:sp>
      <p:sp>
        <p:nvSpPr>
          <p:cNvPr id="31" name="drawio2pptx:shape:c251"/>
          <p:cNvSpPr/>
          <p:nvPr/>
        </p:nvSpPr>
        <p:spPr>
          <a:xfrm>
            <a:off x="666750" y="6600825"/>
            <a:ext cx="76200" cy="23812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drawio2pptx:shape:c252"/>
          <p:cNvSpPr/>
          <p:nvPr/>
        </p:nvSpPr>
        <p:spPr>
          <a:xfrm>
            <a:off x="933450" y="6524625"/>
            <a:ext cx="7924800" cy="514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25" b="0" i="0" u="none">
                <a:solidFill>
                  <a:srgbClr val="1A1A2E"/>
                </a:solidFill>
                <a:latin typeface="微软雅黑"/>
              </a:rPr>
              <a:t>理由：约束自我修改的范围，让每一次改动都能被验证</a:t>
            </a:r>
          </a:p>
        </p:txBody>
      </p:sp>
      <p:sp>
        <p:nvSpPr>
          <p:cNvPr id="33" name="drawio2pptx:shape:c253"/>
          <p:cNvSpPr/>
          <p:nvPr/>
        </p:nvSpPr>
        <p:spPr>
          <a:xfrm>
            <a:off x="9525000" y="1666875"/>
            <a:ext cx="8096250" cy="51435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微软雅黑"/>
              </a:rPr>
              <a:t>一行剧本的解剖（E3-T1）</a:t>
            </a:r>
          </a:p>
        </p:txBody>
      </p:sp>
      <p:sp>
        <p:nvSpPr>
          <p:cNvPr id="34" name="drawio2pptx:shape:c254"/>
          <p:cNvSpPr/>
          <p:nvPr/>
        </p:nvSpPr>
        <p:spPr>
          <a:xfrm>
            <a:off x="9525000" y="2333625"/>
            <a:ext cx="809625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drawio2pptx:shape:c255"/>
          <p:cNvSpPr/>
          <p:nvPr/>
        </p:nvSpPr>
        <p:spPr>
          <a:xfrm>
            <a:off x="9677400" y="2581275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drawio2pptx:shape-image:c25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400" y="2581275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37" name="drawio2pptx:shape:c256"/>
          <p:cNvSpPr/>
          <p:nvPr/>
        </p:nvSpPr>
        <p:spPr>
          <a:xfrm>
            <a:off x="10325100" y="2409825"/>
            <a:ext cx="24765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0170C1"/>
                </a:solidFill>
                <a:latin typeface="微软雅黑"/>
              </a:rPr>
              <a:t>错误类</a:t>
            </a:r>
          </a:p>
        </p:txBody>
      </p:sp>
      <p:sp>
        <p:nvSpPr>
          <p:cNvPr id="38" name="drawio2pptx:shape:c257"/>
          <p:cNvSpPr/>
          <p:nvPr/>
        </p:nvSpPr>
        <p:spPr>
          <a:xfrm>
            <a:off x="12763500" y="2409825"/>
            <a:ext cx="47625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E3 主路径行为</a:t>
            </a:r>
          </a:p>
        </p:txBody>
      </p:sp>
      <p:sp>
        <p:nvSpPr>
          <p:cNvPr id="39" name="drawio2pptx:shape:c258"/>
          <p:cNvSpPr/>
          <p:nvPr/>
        </p:nvSpPr>
        <p:spPr>
          <a:xfrm>
            <a:off x="9525000" y="3457575"/>
            <a:ext cx="8096250" cy="99060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drawio2pptx:shape:c259"/>
          <p:cNvSpPr/>
          <p:nvPr/>
        </p:nvSpPr>
        <p:spPr>
          <a:xfrm>
            <a:off x="9677400" y="3705225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1" name="drawio2pptx:shape-image:c25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77400" y="3705225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42" name="drawio2pptx:shape:c260"/>
          <p:cNvSpPr/>
          <p:nvPr/>
        </p:nvSpPr>
        <p:spPr>
          <a:xfrm>
            <a:off x="10325100" y="3533775"/>
            <a:ext cx="24765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0170C1"/>
                </a:solidFill>
                <a:latin typeface="微软雅黑"/>
              </a:rPr>
              <a:t>动作类型</a:t>
            </a:r>
          </a:p>
        </p:txBody>
      </p:sp>
      <p:sp>
        <p:nvSpPr>
          <p:cNvPr id="43" name="drawio2pptx:shape:c261"/>
          <p:cNvSpPr/>
          <p:nvPr/>
        </p:nvSpPr>
        <p:spPr>
          <a:xfrm>
            <a:off x="12763500" y="3533775"/>
            <a:ext cx="47625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T 拓扑：换成 continuation_double</a:t>
            </a:r>
          </a:p>
        </p:txBody>
      </p:sp>
      <p:sp>
        <p:nvSpPr>
          <p:cNvPr id="44" name="drawio2pptx:shape:c262"/>
          <p:cNvSpPr/>
          <p:nvPr/>
        </p:nvSpPr>
        <p:spPr>
          <a:xfrm>
            <a:off x="9525000" y="4581525"/>
            <a:ext cx="809625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drawio2pptx:shape:c263"/>
          <p:cNvSpPr/>
          <p:nvPr/>
        </p:nvSpPr>
        <p:spPr>
          <a:xfrm>
            <a:off x="9677400" y="4829175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6" name="drawio2pptx:shape-image:c26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77400" y="4829175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47" name="drawio2pptx:shape:c264"/>
          <p:cNvSpPr/>
          <p:nvPr/>
        </p:nvSpPr>
        <p:spPr>
          <a:xfrm>
            <a:off x="10325100" y="4657725"/>
            <a:ext cx="24765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0170C1"/>
                </a:solidFill>
                <a:latin typeface="微软雅黑"/>
              </a:rPr>
              <a:t>槽位编辑</a:t>
            </a:r>
          </a:p>
        </p:txBody>
      </p:sp>
      <p:sp>
        <p:nvSpPr>
          <p:cNvPr id="48" name="drawio2pptx:shape:c265"/>
          <p:cNvSpPr/>
          <p:nvPr/>
        </p:nvSpPr>
        <p:spPr>
          <a:xfrm>
            <a:off x="12763500" y="4657725"/>
            <a:ext cx="47625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改进者之后加第二个改进者</a:t>
            </a:r>
          </a:p>
        </p:txBody>
      </p:sp>
      <p:sp>
        <p:nvSpPr>
          <p:cNvPr id="49" name="drawio2pptx:shape:c266"/>
          <p:cNvSpPr/>
          <p:nvPr/>
        </p:nvSpPr>
        <p:spPr>
          <a:xfrm>
            <a:off x="9525000" y="5705475"/>
            <a:ext cx="8096250" cy="99060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drawio2pptx:shape:c267"/>
          <p:cNvSpPr/>
          <p:nvPr/>
        </p:nvSpPr>
        <p:spPr>
          <a:xfrm>
            <a:off x="9677400" y="5953125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1" name="drawio2pptx:shape-image:c26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77400" y="5953125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52" name="drawio2pptx:shape:c268"/>
          <p:cNvSpPr/>
          <p:nvPr/>
        </p:nvSpPr>
        <p:spPr>
          <a:xfrm>
            <a:off x="10325100" y="5781675"/>
            <a:ext cx="24765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0170C1"/>
                </a:solidFill>
                <a:latin typeface="微软雅黑"/>
              </a:rPr>
              <a:t>证据路由</a:t>
            </a:r>
          </a:p>
        </p:txBody>
      </p:sp>
      <p:sp>
        <p:nvSpPr>
          <p:cNvPr id="53" name="drawio2pptx:shape:c269"/>
          <p:cNvSpPr/>
          <p:nvPr/>
        </p:nvSpPr>
        <p:spPr>
          <a:xfrm>
            <a:off x="12763500" y="5781675"/>
            <a:ext cx="47625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失败清单与输出交给 improver</a:t>
            </a:r>
          </a:p>
        </p:txBody>
      </p:sp>
      <p:sp>
        <p:nvSpPr>
          <p:cNvPr id="54" name="drawio2pptx:shape:c270"/>
          <p:cNvSpPr/>
          <p:nvPr/>
        </p:nvSpPr>
        <p:spPr>
          <a:xfrm>
            <a:off x="9525000" y="6829425"/>
            <a:ext cx="8096250" cy="9906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drawio2pptx:shape:c271"/>
          <p:cNvSpPr/>
          <p:nvPr/>
        </p:nvSpPr>
        <p:spPr>
          <a:xfrm>
            <a:off x="9677400" y="7077075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6" name="drawio2pptx:shape-image:c27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77400" y="7077075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57" name="drawio2pptx:shape:c272"/>
          <p:cNvSpPr/>
          <p:nvPr/>
        </p:nvSpPr>
        <p:spPr>
          <a:xfrm>
            <a:off x="10325100" y="6905625"/>
            <a:ext cx="24765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0170C1"/>
                </a:solidFill>
                <a:latin typeface="微软雅黑"/>
              </a:rPr>
              <a:t>预算 / 前置条件</a:t>
            </a:r>
          </a:p>
        </p:txBody>
      </p:sp>
      <p:sp>
        <p:nvSpPr>
          <p:cNvPr id="58" name="drawio2pptx:shape:c273"/>
          <p:cNvSpPr/>
          <p:nvPr/>
        </p:nvSpPr>
        <p:spPr>
          <a:xfrm>
            <a:off x="12763500" y="6905625"/>
            <a:ext cx="47625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无增量；要求现任已跑过一轮修复</a:t>
            </a:r>
          </a:p>
        </p:txBody>
      </p:sp>
      <p:sp>
        <p:nvSpPr>
          <p:cNvPr id="59" name="drawio2pptx:shape:c274"/>
          <p:cNvSpPr/>
          <p:nvPr/>
        </p:nvSpPr>
        <p:spPr>
          <a:xfrm>
            <a:off x="9525000" y="7953375"/>
            <a:ext cx="8096250" cy="99060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drawio2pptx:shape:c275"/>
          <p:cNvSpPr/>
          <p:nvPr/>
        </p:nvSpPr>
        <p:spPr>
          <a:xfrm>
            <a:off x="9677400" y="8201025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1" name="drawio2pptx:shape-image:c27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77400" y="8201025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62" name="drawio2pptx:shape:c276"/>
          <p:cNvSpPr/>
          <p:nvPr/>
        </p:nvSpPr>
        <p:spPr>
          <a:xfrm>
            <a:off x="10325100" y="8029575"/>
            <a:ext cx="24765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1" i="0" u="none">
                <a:solidFill>
                  <a:srgbClr val="0170C1"/>
                </a:solidFill>
                <a:latin typeface="微软雅黑"/>
              </a:rPr>
              <a:t>状态</a:t>
            </a:r>
          </a:p>
        </p:txBody>
      </p:sp>
      <p:sp>
        <p:nvSpPr>
          <p:cNvPr id="63" name="drawio2pptx:shape:c277"/>
          <p:cNvSpPr/>
          <p:nvPr/>
        </p:nvSpPr>
        <p:spPr>
          <a:xfrm>
            <a:off x="12763500" y="8029575"/>
            <a:ext cx="47625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active（已启用）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27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280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281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282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标准流程：进化的测量基座</a:t>
            </a:r>
          </a:p>
        </p:txBody>
      </p:sp>
      <p:sp>
        <p:nvSpPr>
          <p:cNvPr id="6" name="drawio2pptx:shape:c283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284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285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7 / 18</a:t>
            </a:r>
          </a:p>
        </p:txBody>
      </p:sp>
      <p:sp>
        <p:nvSpPr>
          <p:cNvPr id="9" name="drawio2pptx:shape:c286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THE FIXED PROCEDURE</a:t>
            </a:r>
          </a:p>
        </p:txBody>
      </p:sp>
      <p:sp>
        <p:nvSpPr>
          <p:cNvPr id="10" name="drawio2pptx:shape:c287"/>
          <p:cNvSpPr/>
          <p:nvPr/>
        </p:nvSpPr>
        <p:spPr>
          <a:xfrm>
            <a:off x="666750" y="1905000"/>
            <a:ext cx="3619500" cy="314325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drawio2pptx:shape:c288"/>
          <p:cNvSpPr/>
          <p:nvPr/>
        </p:nvSpPr>
        <p:spPr>
          <a:xfrm>
            <a:off x="666750" y="1905000"/>
            <a:ext cx="3619500" cy="66675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drawio2pptx:shape:c289"/>
          <p:cNvSpPr/>
          <p:nvPr/>
        </p:nvSpPr>
        <p:spPr>
          <a:xfrm>
            <a:off x="819150" y="2000250"/>
            <a:ext cx="476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drawio2pptx:shape-image:c28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2000250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14" name="drawio2pptx:shape:c290"/>
          <p:cNvSpPr/>
          <p:nvPr/>
        </p:nvSpPr>
        <p:spPr>
          <a:xfrm>
            <a:off x="1428750" y="1905000"/>
            <a:ext cx="27622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FFFFFF"/>
                </a:solidFill>
                <a:latin typeface="微软雅黑"/>
              </a:rPr>
              <a:t>P1 探针</a:t>
            </a:r>
          </a:p>
        </p:txBody>
      </p:sp>
      <p:sp>
        <p:nvSpPr>
          <p:cNvPr id="15" name="drawio2pptx:shape:c291"/>
          <p:cNvSpPr/>
          <p:nvPr/>
        </p:nvSpPr>
        <p:spPr>
          <a:xfrm>
            <a:off x="857250" y="2762250"/>
            <a:ext cx="32385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1A1A2E"/>
                </a:solidFill>
                <a:latin typeface="微软雅黑"/>
              </a:rPr>
              <a:t>原设计重跑
分出持续失败与偶发失败</a:t>
            </a:r>
          </a:p>
        </p:txBody>
      </p:sp>
      <p:sp>
        <p:nvSpPr>
          <p:cNvPr id="16" name="drawio2pptx:shape:c292"/>
          <p:cNvSpPr/>
          <p:nvPr/>
        </p:nvSpPr>
        <p:spPr>
          <a:xfrm>
            <a:off x="4286250" y="3143250"/>
            <a:ext cx="6667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0170C1"/>
                </a:solidFill>
                <a:latin typeface="Arial"/>
              </a:rPr>
              <a:t>→</a:t>
            </a:r>
          </a:p>
        </p:txBody>
      </p:sp>
      <p:sp>
        <p:nvSpPr>
          <p:cNvPr id="17" name="drawio2pptx:shape:c293"/>
          <p:cNvSpPr/>
          <p:nvPr/>
        </p:nvSpPr>
        <p:spPr>
          <a:xfrm>
            <a:off x="4953000" y="1905000"/>
            <a:ext cx="3619500" cy="314325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drawio2pptx:shape:c294"/>
          <p:cNvSpPr/>
          <p:nvPr/>
        </p:nvSpPr>
        <p:spPr>
          <a:xfrm>
            <a:off x="4953000" y="1905000"/>
            <a:ext cx="3619500" cy="66675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drawio2pptx:shape:c295"/>
          <p:cNvSpPr/>
          <p:nvPr/>
        </p:nvSpPr>
        <p:spPr>
          <a:xfrm>
            <a:off x="5105400" y="2000250"/>
            <a:ext cx="476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drawio2pptx:shape-image:c29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2000250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21" name="drawio2pptx:shape:c296"/>
          <p:cNvSpPr/>
          <p:nvPr/>
        </p:nvSpPr>
        <p:spPr>
          <a:xfrm>
            <a:off x="5715000" y="1905000"/>
            <a:ext cx="27622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FFFFFF"/>
                </a:solidFill>
                <a:latin typeface="微软雅黑"/>
              </a:rPr>
              <a:t>P2 路由诊断</a:t>
            </a:r>
          </a:p>
        </p:txBody>
      </p:sp>
      <p:sp>
        <p:nvSpPr>
          <p:cNvPr id="22" name="drawio2pptx:shape:c297"/>
          <p:cNvSpPr/>
          <p:nvPr/>
        </p:nvSpPr>
        <p:spPr>
          <a:xfrm>
            <a:off x="5143500" y="2762250"/>
            <a:ext cx="32385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1A1A2E"/>
                </a:solidFill>
                <a:latin typeface="微软雅黑"/>
              </a:rPr>
              <a:t>错误分类
非本里程碑的问题路由出去</a:t>
            </a:r>
          </a:p>
        </p:txBody>
      </p:sp>
      <p:sp>
        <p:nvSpPr>
          <p:cNvPr id="23" name="drawio2pptx:shape:c298"/>
          <p:cNvSpPr/>
          <p:nvPr/>
        </p:nvSpPr>
        <p:spPr>
          <a:xfrm>
            <a:off x="8572500" y="3143250"/>
            <a:ext cx="6667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0170C1"/>
                </a:solidFill>
                <a:latin typeface="Arial"/>
              </a:rPr>
              <a:t>→</a:t>
            </a:r>
          </a:p>
        </p:txBody>
      </p:sp>
      <p:sp>
        <p:nvSpPr>
          <p:cNvPr id="24" name="drawio2pptx:shape:c299"/>
          <p:cNvSpPr/>
          <p:nvPr/>
        </p:nvSpPr>
        <p:spPr>
          <a:xfrm>
            <a:off x="9239250" y="1905000"/>
            <a:ext cx="3619500" cy="314325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drawio2pptx:shape:c300"/>
          <p:cNvSpPr/>
          <p:nvPr/>
        </p:nvSpPr>
        <p:spPr>
          <a:xfrm>
            <a:off x="9239250" y="1905000"/>
            <a:ext cx="3619500" cy="66675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drawio2pptx:shape:c301"/>
          <p:cNvSpPr/>
          <p:nvPr/>
        </p:nvSpPr>
        <p:spPr>
          <a:xfrm>
            <a:off x="9391650" y="2000250"/>
            <a:ext cx="476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7" name="drawio2pptx:shape-image:c30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1650" y="2000250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28" name="drawio2pptx:shape:c302"/>
          <p:cNvSpPr/>
          <p:nvPr/>
        </p:nvSpPr>
        <p:spPr>
          <a:xfrm>
            <a:off x="10001250" y="1905000"/>
            <a:ext cx="27622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FFFFFF"/>
                </a:solidFill>
                <a:latin typeface="微软雅黑"/>
              </a:rPr>
              <a:t>P3 默认修复 R0</a:t>
            </a:r>
          </a:p>
        </p:txBody>
      </p:sp>
      <p:sp>
        <p:nvSpPr>
          <p:cNvPr id="29" name="drawio2pptx:shape:c303"/>
          <p:cNvSpPr/>
          <p:nvPr/>
        </p:nvSpPr>
        <p:spPr>
          <a:xfrm>
            <a:off x="9429750" y="2762250"/>
            <a:ext cx="32385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1A1A2E"/>
                </a:solidFill>
                <a:latin typeface="微软雅黑"/>
              </a:rPr>
              <a:t>在现任工作区上
带证据继续修</a:t>
            </a:r>
          </a:p>
        </p:txBody>
      </p:sp>
      <p:sp>
        <p:nvSpPr>
          <p:cNvPr id="30" name="drawio2pptx:shape:c304"/>
          <p:cNvSpPr/>
          <p:nvPr/>
        </p:nvSpPr>
        <p:spPr>
          <a:xfrm>
            <a:off x="12858750" y="3143250"/>
            <a:ext cx="6667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0170C1"/>
                </a:solidFill>
                <a:latin typeface="Arial"/>
              </a:rPr>
              <a:t>→</a:t>
            </a:r>
          </a:p>
        </p:txBody>
      </p:sp>
      <p:sp>
        <p:nvSpPr>
          <p:cNvPr id="31" name="drawio2pptx:shape:c305"/>
          <p:cNvSpPr/>
          <p:nvPr/>
        </p:nvSpPr>
        <p:spPr>
          <a:xfrm>
            <a:off x="13525500" y="1905000"/>
            <a:ext cx="3619500" cy="314325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drawio2pptx:shape:c306"/>
          <p:cNvSpPr/>
          <p:nvPr/>
        </p:nvSpPr>
        <p:spPr>
          <a:xfrm>
            <a:off x="13525500" y="1905000"/>
            <a:ext cx="3619500" cy="66675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drawio2pptx:shape:c307"/>
          <p:cNvSpPr/>
          <p:nvPr/>
        </p:nvSpPr>
        <p:spPr>
          <a:xfrm>
            <a:off x="13677900" y="2000250"/>
            <a:ext cx="476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4" name="drawio2pptx:shape-image:c30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77900" y="2000250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35" name="drawio2pptx:shape:c308"/>
          <p:cNvSpPr/>
          <p:nvPr/>
        </p:nvSpPr>
        <p:spPr>
          <a:xfrm>
            <a:off x="14287500" y="1905000"/>
            <a:ext cx="27622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FFFFFF"/>
                </a:solidFill>
                <a:latin typeface="微软雅黑"/>
              </a:rPr>
              <a:t>P4 统一验收</a:t>
            </a:r>
          </a:p>
        </p:txBody>
      </p:sp>
      <p:sp>
        <p:nvSpPr>
          <p:cNvPr id="36" name="drawio2pptx:shape:c309"/>
          <p:cNvSpPr/>
          <p:nvPr/>
        </p:nvSpPr>
        <p:spPr>
          <a:xfrm>
            <a:off x="13716000" y="2762250"/>
            <a:ext cx="3238500" cy="2095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1A1A2E"/>
                </a:solidFill>
                <a:latin typeface="微软雅黑"/>
              </a:rPr>
              <a:t>修好持续失败、零回归
前序套件不新增失败</a:t>
            </a:r>
          </a:p>
        </p:txBody>
      </p:sp>
      <p:sp>
        <p:nvSpPr>
          <p:cNvPr id="37" name="drawio2pptx:shape:c310"/>
          <p:cNvSpPr/>
          <p:nvPr/>
        </p:nvSpPr>
        <p:spPr>
          <a:xfrm>
            <a:off x="13839825" y="5048250"/>
            <a:ext cx="38100" cy="6667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drawio2pptx:shape:c311"/>
          <p:cNvSpPr/>
          <p:nvPr/>
        </p:nvSpPr>
        <p:spPr>
          <a:xfrm>
            <a:off x="11334750" y="5715000"/>
            <a:ext cx="5048250" cy="1143000"/>
          </a:xfrm>
          <a:prstGeom prst="roundRect">
            <a:avLst/>
          </a:prstGeom>
          <a:solidFill>
            <a:srgbClr val="FFF4E8"/>
          </a:solidFill>
          <a:ln w="285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drawio2pptx:shape:c312"/>
          <p:cNvSpPr/>
          <p:nvPr/>
        </p:nvSpPr>
        <p:spPr>
          <a:xfrm>
            <a:off x="11525250" y="5943600"/>
            <a:ext cx="6096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0" name="drawio2pptx:shape-image:c3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25250" y="5943600"/>
            <a:ext cx="609600" cy="609600"/>
          </a:xfrm>
          <a:prstGeom prst="rect">
            <a:avLst/>
          </a:prstGeom>
          <a:ln>
            <a:noFill/>
          </a:ln>
        </p:spPr>
      </p:pic>
      <p:sp>
        <p:nvSpPr>
          <p:cNvPr id="41" name="drawio2pptx:shape:c313"/>
          <p:cNvSpPr/>
          <p:nvPr/>
        </p:nvSpPr>
        <p:spPr>
          <a:xfrm>
            <a:off x="12287250" y="5715000"/>
            <a:ext cx="4000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剧本表：插件
在 R0 之外再给一个候选位</a:t>
            </a:r>
          </a:p>
        </p:txBody>
      </p:sp>
      <p:sp>
        <p:nvSpPr>
          <p:cNvPr id="42" name="drawio2pptx:shape:c314"/>
          <p:cNvSpPr/>
          <p:nvPr/>
        </p:nvSpPr>
        <p:spPr>
          <a:xfrm>
            <a:off x="666750" y="5791200"/>
            <a:ext cx="76200" cy="25717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drawio2pptx:shape:c315"/>
          <p:cNvSpPr/>
          <p:nvPr/>
        </p:nvSpPr>
        <p:spPr>
          <a:xfrm>
            <a:off x="933450" y="5715000"/>
            <a:ext cx="166878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 u="none">
                <a:solidFill>
                  <a:srgbClr val="1A1A2E"/>
                </a:solidFill>
                <a:latin typeface="微软雅黑"/>
              </a:rPr>
              <a:t>每次搜索都走同一条流程，不论剧本表怎么变</a:t>
            </a:r>
          </a:p>
        </p:txBody>
      </p:sp>
      <p:sp>
        <p:nvSpPr>
          <p:cNvPr id="44" name="drawio2pptx:shape:c316"/>
          <p:cNvSpPr/>
          <p:nvPr/>
        </p:nvSpPr>
        <p:spPr>
          <a:xfrm>
            <a:off x="666750" y="6467475"/>
            <a:ext cx="76200" cy="25717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drawio2pptx:shape:c317"/>
          <p:cNvSpPr/>
          <p:nvPr/>
        </p:nvSpPr>
        <p:spPr>
          <a:xfrm>
            <a:off x="933450" y="6391275"/>
            <a:ext cx="166878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 u="none">
                <a:solidFill>
                  <a:srgbClr val="1A1A2E"/>
                </a:solidFill>
                <a:latin typeface="微软雅黑"/>
              </a:rPr>
              <a:t>所有剧本行的效果都相对 R0 衡量：同一次搜索里，行 vs R0 的逐用例净修复之差进入账本</a:t>
            </a:r>
          </a:p>
        </p:txBody>
      </p:sp>
      <p:sp>
        <p:nvSpPr>
          <p:cNvPr id="46" name="drawio2pptx:shape:c318"/>
          <p:cNvSpPr/>
          <p:nvPr/>
        </p:nvSpPr>
        <p:spPr>
          <a:xfrm>
            <a:off x="666750" y="7143750"/>
            <a:ext cx="76200" cy="25717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drawio2pptx:shape:c319"/>
          <p:cNvSpPr/>
          <p:nvPr/>
        </p:nvSpPr>
        <p:spPr>
          <a:xfrm>
            <a:off x="933450" y="7067550"/>
            <a:ext cx="16687800" cy="5429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75" b="0" i="0" u="none">
                <a:solidFill>
                  <a:srgbClr val="1A1A2E"/>
                </a:solidFill>
                <a:latin typeface="微软雅黑"/>
              </a:rPr>
              <a:t>流程一变，账本就失去参照，所以流程本身不进化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32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322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323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324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部件一：修复剧本表</a:t>
            </a:r>
          </a:p>
        </p:txBody>
      </p:sp>
      <p:sp>
        <p:nvSpPr>
          <p:cNvPr id="6" name="drawio2pptx:shape:c325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326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327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8 / 18</a:t>
            </a:r>
          </a:p>
        </p:txBody>
      </p:sp>
      <p:sp>
        <p:nvSpPr>
          <p:cNvPr id="9" name="drawio2pptx:shape:c328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COMPONENT 1 · REPAIR TABLE</a:t>
            </a:r>
          </a:p>
        </p:txBody>
      </p:sp>
      <p:sp>
        <p:nvSpPr>
          <p:cNvPr id="10" name="drawio2pptx:shape:c329"/>
          <p:cNvSpPr/>
          <p:nvPr/>
        </p:nvSpPr>
        <p:spPr>
          <a:xfrm>
            <a:off x="666750" y="163830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drawio2pptx:shape:c330"/>
          <p:cNvSpPr/>
          <p:nvPr/>
        </p:nvSpPr>
        <p:spPr>
          <a:xfrm>
            <a:off x="933450" y="1571625"/>
            <a:ext cx="64008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作用：门失败或分数偏低时，按错误类选修复动作</a:t>
            </a:r>
          </a:p>
        </p:txBody>
      </p:sp>
      <p:sp>
        <p:nvSpPr>
          <p:cNvPr id="12" name="drawio2pptx:shape:c331"/>
          <p:cNvSpPr/>
          <p:nvPr/>
        </p:nvSpPr>
        <p:spPr>
          <a:xfrm>
            <a:off x="666750" y="2276475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drawio2pptx:shape:c332"/>
          <p:cNvSpPr/>
          <p:nvPr/>
        </p:nvSpPr>
        <p:spPr>
          <a:xfrm>
            <a:off x="933450" y="2209800"/>
            <a:ext cx="640080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主键：九个错误类；五类动作：方案 S、拓扑 T、角色 R、预算 B、重采样 N</a:t>
            </a:r>
          </a:p>
        </p:txBody>
      </p:sp>
      <p:sp>
        <p:nvSpPr>
          <p:cNvPr id="14" name="drawio2pptx:shape:c333"/>
          <p:cNvSpPr/>
          <p:nvPr/>
        </p:nvSpPr>
        <p:spPr>
          <a:xfrm>
            <a:off x="666750" y="3286125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drawio2pptx:shape:c334"/>
          <p:cNvSpPr/>
          <p:nvPr/>
        </p:nvSpPr>
        <p:spPr>
          <a:xfrm>
            <a:off x="933450" y="3219450"/>
            <a:ext cx="640080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每行相对 R0 的配对增量进入账本，按错误类排序，小样本向 R0 收缩</a:t>
            </a:r>
          </a:p>
        </p:txBody>
      </p:sp>
      <p:sp>
        <p:nvSpPr>
          <p:cNvPr id="16" name="drawio2pptx:shape:c335"/>
          <p:cNvSpPr/>
          <p:nvPr/>
        </p:nvSpPr>
        <p:spPr>
          <a:xfrm>
            <a:off x="666750" y="4295775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drawio2pptx:shape:c336"/>
          <p:cNvSpPr/>
          <p:nvPr/>
        </p:nvSpPr>
        <p:spPr>
          <a:xfrm>
            <a:off x="933450" y="4229100"/>
            <a:ext cx="64008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四种状态：启用、试用、候补、淘汰</a:t>
            </a:r>
          </a:p>
        </p:txBody>
      </p:sp>
      <p:sp>
        <p:nvSpPr>
          <p:cNvPr id="18" name="drawio2pptx:shape:c337"/>
          <p:cNvSpPr/>
          <p:nvPr/>
        </p:nvSpPr>
        <p:spPr>
          <a:xfrm>
            <a:off x="666750" y="493395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drawio2pptx:shape:c338"/>
          <p:cNvSpPr/>
          <p:nvPr/>
        </p:nvSpPr>
        <p:spPr>
          <a:xfrm>
            <a:off x="933450" y="4867275"/>
            <a:ext cx="64008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进化 agent 针对“未解决池”提议新行</a:t>
            </a:r>
          </a:p>
        </p:txBody>
      </p:sp>
      <p:sp>
        <p:nvSpPr>
          <p:cNvPr id="20" name="drawio2pptx:shape:c339"/>
          <p:cNvSpPr/>
          <p:nvPr/>
        </p:nvSpPr>
        <p:spPr>
          <a:xfrm>
            <a:off x="7905750" y="1571625"/>
            <a:ext cx="1809750" cy="5905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微软雅黑"/>
              </a:rPr>
              <a:t>错误类 \ 动作</a:t>
            </a:r>
          </a:p>
        </p:txBody>
      </p:sp>
      <p:sp>
        <p:nvSpPr>
          <p:cNvPr id="21" name="drawio2pptx:shape:c340"/>
          <p:cNvSpPr/>
          <p:nvPr/>
        </p:nvSpPr>
        <p:spPr>
          <a:xfrm>
            <a:off x="9715500" y="1571625"/>
            <a:ext cx="1619250" cy="5905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微软雅黑"/>
              </a:rPr>
              <a:t>S 方案</a:t>
            </a:r>
          </a:p>
        </p:txBody>
      </p:sp>
      <p:sp>
        <p:nvSpPr>
          <p:cNvPr id="22" name="drawio2pptx:shape:c341"/>
          <p:cNvSpPr/>
          <p:nvPr/>
        </p:nvSpPr>
        <p:spPr>
          <a:xfrm>
            <a:off x="11334750" y="1571625"/>
            <a:ext cx="1619250" cy="5905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微软雅黑"/>
              </a:rPr>
              <a:t>T 拓扑</a:t>
            </a:r>
          </a:p>
        </p:txBody>
      </p:sp>
      <p:sp>
        <p:nvSpPr>
          <p:cNvPr id="23" name="drawio2pptx:shape:c342"/>
          <p:cNvSpPr/>
          <p:nvPr/>
        </p:nvSpPr>
        <p:spPr>
          <a:xfrm>
            <a:off x="12954000" y="1571625"/>
            <a:ext cx="1619250" cy="5905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微软雅黑"/>
              </a:rPr>
              <a:t>R 角色</a:t>
            </a:r>
          </a:p>
        </p:txBody>
      </p:sp>
      <p:sp>
        <p:nvSpPr>
          <p:cNvPr id="24" name="drawio2pptx:shape:c343"/>
          <p:cNvSpPr/>
          <p:nvPr/>
        </p:nvSpPr>
        <p:spPr>
          <a:xfrm>
            <a:off x="14573250" y="1571625"/>
            <a:ext cx="1619250" cy="5905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微软雅黑"/>
              </a:rPr>
              <a:t>B 预算</a:t>
            </a:r>
          </a:p>
        </p:txBody>
      </p:sp>
      <p:sp>
        <p:nvSpPr>
          <p:cNvPr id="25" name="drawio2pptx:shape:c344"/>
          <p:cNvSpPr/>
          <p:nvPr/>
        </p:nvSpPr>
        <p:spPr>
          <a:xfrm>
            <a:off x="16192500" y="1571625"/>
            <a:ext cx="1619250" cy="5905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FFFFFF"/>
                </a:solidFill>
                <a:latin typeface="微软雅黑"/>
              </a:rPr>
              <a:t>N 重采样</a:t>
            </a:r>
          </a:p>
        </p:txBody>
      </p:sp>
      <p:sp>
        <p:nvSpPr>
          <p:cNvPr id="26" name="drawio2pptx:shape:c345"/>
          <p:cNvSpPr/>
          <p:nvPr/>
        </p:nvSpPr>
        <p:spPr>
          <a:xfrm>
            <a:off x="7905750" y="2162175"/>
            <a:ext cx="1809750" cy="5905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A1A2E"/>
                </a:solidFill>
                <a:latin typeface="微软雅黑"/>
              </a:rPr>
              <a:t>E1 未完成</a:t>
            </a:r>
          </a:p>
        </p:txBody>
      </p:sp>
      <p:sp>
        <p:nvSpPr>
          <p:cNvPr id="27" name="drawio2pptx:shape:c346"/>
          <p:cNvSpPr/>
          <p:nvPr/>
        </p:nvSpPr>
        <p:spPr>
          <a:xfrm>
            <a:off x="9715500" y="21621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drawio2pptx:shape:c347"/>
          <p:cNvSpPr/>
          <p:nvPr/>
        </p:nvSpPr>
        <p:spPr>
          <a:xfrm>
            <a:off x="11334750" y="21621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E1-T1 / T2</a:t>
            </a:r>
          </a:p>
        </p:txBody>
      </p:sp>
      <p:sp>
        <p:nvSpPr>
          <p:cNvPr id="29" name="drawio2pptx:shape:c348"/>
          <p:cNvSpPr/>
          <p:nvPr/>
        </p:nvSpPr>
        <p:spPr>
          <a:xfrm>
            <a:off x="12954000" y="21621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drawio2pptx:shape:c349"/>
          <p:cNvSpPr/>
          <p:nvPr/>
        </p:nvSpPr>
        <p:spPr>
          <a:xfrm>
            <a:off x="14573250" y="2162175"/>
            <a:ext cx="1619250" cy="590550"/>
          </a:xfrm>
          <a:prstGeom prst="rect">
            <a:avLst/>
          </a:prstGeom>
          <a:solidFill>
            <a:srgbClr val="D7F0D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E1-B2</a:t>
            </a:r>
          </a:p>
        </p:txBody>
      </p:sp>
      <p:sp>
        <p:nvSpPr>
          <p:cNvPr id="31" name="drawio2pptx:shape:c350"/>
          <p:cNvSpPr/>
          <p:nvPr/>
        </p:nvSpPr>
        <p:spPr>
          <a:xfrm>
            <a:off x="16192500" y="21621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drawio2pptx:shape:c351"/>
          <p:cNvSpPr/>
          <p:nvPr/>
        </p:nvSpPr>
        <p:spPr>
          <a:xfrm>
            <a:off x="7905750" y="2752725"/>
            <a:ext cx="1809750" cy="5905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A1A2E"/>
                </a:solidFill>
                <a:latin typeface="微软雅黑"/>
              </a:rPr>
              <a:t>E2 接口面</a:t>
            </a:r>
          </a:p>
        </p:txBody>
      </p:sp>
      <p:sp>
        <p:nvSpPr>
          <p:cNvPr id="33" name="drawio2pptx:shape:c352"/>
          <p:cNvSpPr/>
          <p:nvPr/>
        </p:nvSpPr>
        <p:spPr>
          <a:xfrm>
            <a:off x="9715500" y="27527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E2-S1</a:t>
            </a:r>
          </a:p>
        </p:txBody>
      </p:sp>
      <p:sp>
        <p:nvSpPr>
          <p:cNvPr id="34" name="drawio2pptx:shape:c353"/>
          <p:cNvSpPr/>
          <p:nvPr/>
        </p:nvSpPr>
        <p:spPr>
          <a:xfrm>
            <a:off x="11334750" y="27527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drawio2pptx:shape:c354"/>
          <p:cNvSpPr/>
          <p:nvPr/>
        </p:nvSpPr>
        <p:spPr>
          <a:xfrm>
            <a:off x="12954000" y="2752725"/>
            <a:ext cx="1619250" cy="590550"/>
          </a:xfrm>
          <a:prstGeom prst="rect">
            <a:avLst/>
          </a:prstGeom>
          <a:solidFill>
            <a:srgbClr val="D7F0D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E2-R1</a:t>
            </a:r>
          </a:p>
        </p:txBody>
      </p:sp>
      <p:sp>
        <p:nvSpPr>
          <p:cNvPr id="36" name="drawio2pptx:shape:c355"/>
          <p:cNvSpPr/>
          <p:nvPr/>
        </p:nvSpPr>
        <p:spPr>
          <a:xfrm>
            <a:off x="14573250" y="27527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drawio2pptx:shape:c356"/>
          <p:cNvSpPr/>
          <p:nvPr/>
        </p:nvSpPr>
        <p:spPr>
          <a:xfrm>
            <a:off x="16192500" y="27527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drawio2pptx:shape:c357"/>
          <p:cNvSpPr/>
          <p:nvPr/>
        </p:nvSpPr>
        <p:spPr>
          <a:xfrm>
            <a:off x="7905750" y="3343275"/>
            <a:ext cx="1809750" cy="5905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A1A2E"/>
                </a:solidFill>
                <a:latin typeface="微软雅黑"/>
              </a:rPr>
              <a:t>E3 主路径</a:t>
            </a:r>
          </a:p>
        </p:txBody>
      </p:sp>
      <p:sp>
        <p:nvSpPr>
          <p:cNvPr id="39" name="drawio2pptx:shape:c358"/>
          <p:cNvSpPr/>
          <p:nvPr/>
        </p:nvSpPr>
        <p:spPr>
          <a:xfrm>
            <a:off x="9715500" y="33432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E3-S1</a:t>
            </a:r>
          </a:p>
        </p:txBody>
      </p:sp>
      <p:sp>
        <p:nvSpPr>
          <p:cNvPr id="40" name="drawio2pptx:shape:c359"/>
          <p:cNvSpPr/>
          <p:nvPr/>
        </p:nvSpPr>
        <p:spPr>
          <a:xfrm>
            <a:off x="11334750" y="3343275"/>
            <a:ext cx="1619250" cy="590550"/>
          </a:xfrm>
          <a:prstGeom prst="rect">
            <a:avLst/>
          </a:prstGeom>
          <a:solidFill>
            <a:srgbClr val="D7F0D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E3-T1</a:t>
            </a:r>
          </a:p>
        </p:txBody>
      </p:sp>
      <p:sp>
        <p:nvSpPr>
          <p:cNvPr id="41" name="drawio2pptx:shape:c360"/>
          <p:cNvSpPr/>
          <p:nvPr/>
        </p:nvSpPr>
        <p:spPr>
          <a:xfrm>
            <a:off x="12954000" y="33432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E3-R1</a:t>
            </a:r>
          </a:p>
        </p:txBody>
      </p:sp>
      <p:sp>
        <p:nvSpPr>
          <p:cNvPr id="42" name="drawio2pptx:shape:c361"/>
          <p:cNvSpPr/>
          <p:nvPr/>
        </p:nvSpPr>
        <p:spPr>
          <a:xfrm>
            <a:off x="14573250" y="33432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drawio2pptx:shape:c362"/>
          <p:cNvSpPr/>
          <p:nvPr/>
        </p:nvSpPr>
        <p:spPr>
          <a:xfrm>
            <a:off x="16192500" y="33432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drawio2pptx:shape:c363"/>
          <p:cNvSpPr/>
          <p:nvPr/>
        </p:nvSpPr>
        <p:spPr>
          <a:xfrm>
            <a:off x="7905750" y="3933825"/>
            <a:ext cx="1809750" cy="5905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A1A2E"/>
                </a:solidFill>
                <a:latin typeface="微软雅黑"/>
              </a:rPr>
              <a:t>E4 状态转换</a:t>
            </a:r>
          </a:p>
        </p:txBody>
      </p:sp>
      <p:sp>
        <p:nvSpPr>
          <p:cNvPr id="45" name="drawio2pptx:shape:c364"/>
          <p:cNvSpPr/>
          <p:nvPr/>
        </p:nvSpPr>
        <p:spPr>
          <a:xfrm>
            <a:off x="9715500" y="39338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E4-S1</a:t>
            </a:r>
          </a:p>
        </p:txBody>
      </p:sp>
      <p:sp>
        <p:nvSpPr>
          <p:cNvPr id="46" name="drawio2pptx:shape:c365"/>
          <p:cNvSpPr/>
          <p:nvPr/>
        </p:nvSpPr>
        <p:spPr>
          <a:xfrm>
            <a:off x="11334750" y="39338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drawio2pptx:shape:c366"/>
          <p:cNvSpPr/>
          <p:nvPr/>
        </p:nvSpPr>
        <p:spPr>
          <a:xfrm>
            <a:off x="12954000" y="39338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E4-R1</a:t>
            </a:r>
          </a:p>
        </p:txBody>
      </p:sp>
      <p:sp>
        <p:nvSpPr>
          <p:cNvPr id="48" name="drawio2pptx:shape:c367"/>
          <p:cNvSpPr/>
          <p:nvPr/>
        </p:nvSpPr>
        <p:spPr>
          <a:xfrm>
            <a:off x="14573250" y="39338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drawio2pptx:shape:c368"/>
          <p:cNvSpPr/>
          <p:nvPr/>
        </p:nvSpPr>
        <p:spPr>
          <a:xfrm>
            <a:off x="16192500" y="39338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drawio2pptx:shape:c369"/>
          <p:cNvSpPr/>
          <p:nvPr/>
        </p:nvSpPr>
        <p:spPr>
          <a:xfrm>
            <a:off x="7905750" y="4524375"/>
            <a:ext cx="1809750" cy="5905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A1A2E"/>
                </a:solidFill>
                <a:latin typeface="微软雅黑"/>
              </a:rPr>
              <a:t>E5 错误路径</a:t>
            </a:r>
          </a:p>
        </p:txBody>
      </p:sp>
      <p:sp>
        <p:nvSpPr>
          <p:cNvPr id="51" name="drawio2pptx:shape:c370"/>
          <p:cNvSpPr/>
          <p:nvPr/>
        </p:nvSpPr>
        <p:spPr>
          <a:xfrm>
            <a:off x="9715500" y="45243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E5-S1</a:t>
            </a:r>
          </a:p>
        </p:txBody>
      </p:sp>
      <p:sp>
        <p:nvSpPr>
          <p:cNvPr id="52" name="drawio2pptx:shape:c371"/>
          <p:cNvSpPr/>
          <p:nvPr/>
        </p:nvSpPr>
        <p:spPr>
          <a:xfrm>
            <a:off x="11334750" y="45243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drawio2pptx:shape:c372"/>
          <p:cNvSpPr/>
          <p:nvPr/>
        </p:nvSpPr>
        <p:spPr>
          <a:xfrm>
            <a:off x="12954000" y="45243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E5-R1</a:t>
            </a:r>
          </a:p>
        </p:txBody>
      </p:sp>
      <p:sp>
        <p:nvSpPr>
          <p:cNvPr id="54" name="drawio2pptx:shape:c373"/>
          <p:cNvSpPr/>
          <p:nvPr/>
        </p:nvSpPr>
        <p:spPr>
          <a:xfrm>
            <a:off x="14573250" y="45243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drawio2pptx:shape:c374"/>
          <p:cNvSpPr/>
          <p:nvPr/>
        </p:nvSpPr>
        <p:spPr>
          <a:xfrm>
            <a:off x="16192500" y="45243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drawio2pptx:shape:c375"/>
          <p:cNvSpPr/>
          <p:nvPr/>
        </p:nvSpPr>
        <p:spPr>
          <a:xfrm>
            <a:off x="7905750" y="5114925"/>
            <a:ext cx="1809750" cy="5905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A1A2E"/>
                </a:solidFill>
                <a:latin typeface="微软雅黑"/>
              </a:rPr>
              <a:t>E6 边界协议</a:t>
            </a:r>
          </a:p>
        </p:txBody>
      </p:sp>
      <p:sp>
        <p:nvSpPr>
          <p:cNvPr id="57" name="drawio2pptx:shape:c376"/>
          <p:cNvSpPr/>
          <p:nvPr/>
        </p:nvSpPr>
        <p:spPr>
          <a:xfrm>
            <a:off x="9715500" y="51149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E6-S1</a:t>
            </a:r>
          </a:p>
        </p:txBody>
      </p:sp>
      <p:sp>
        <p:nvSpPr>
          <p:cNvPr id="58" name="drawio2pptx:shape:c377"/>
          <p:cNvSpPr/>
          <p:nvPr/>
        </p:nvSpPr>
        <p:spPr>
          <a:xfrm>
            <a:off x="11334750" y="51149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drawio2pptx:shape:c378"/>
          <p:cNvSpPr/>
          <p:nvPr/>
        </p:nvSpPr>
        <p:spPr>
          <a:xfrm>
            <a:off x="12954000" y="51149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E6-R1</a:t>
            </a:r>
          </a:p>
        </p:txBody>
      </p:sp>
      <p:sp>
        <p:nvSpPr>
          <p:cNvPr id="60" name="drawio2pptx:shape:c379"/>
          <p:cNvSpPr/>
          <p:nvPr/>
        </p:nvSpPr>
        <p:spPr>
          <a:xfrm>
            <a:off x="14573250" y="51149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drawio2pptx:shape:c380"/>
          <p:cNvSpPr/>
          <p:nvPr/>
        </p:nvSpPr>
        <p:spPr>
          <a:xfrm>
            <a:off x="16192500" y="51149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drawio2pptx:shape:c381"/>
          <p:cNvSpPr/>
          <p:nvPr/>
        </p:nvSpPr>
        <p:spPr>
          <a:xfrm>
            <a:off x="7905750" y="5705475"/>
            <a:ext cx="1809750" cy="5905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A1A2E"/>
                </a:solidFill>
                <a:latin typeface="微软雅黑"/>
              </a:rPr>
              <a:t>E7 跨模块</a:t>
            </a:r>
          </a:p>
        </p:txBody>
      </p:sp>
      <p:sp>
        <p:nvSpPr>
          <p:cNvPr id="63" name="drawio2pptx:shape:c382"/>
          <p:cNvSpPr/>
          <p:nvPr/>
        </p:nvSpPr>
        <p:spPr>
          <a:xfrm>
            <a:off x="9715500" y="57054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E7-S1</a:t>
            </a:r>
          </a:p>
        </p:txBody>
      </p:sp>
      <p:sp>
        <p:nvSpPr>
          <p:cNvPr id="64" name="drawio2pptx:shape:c383"/>
          <p:cNvSpPr/>
          <p:nvPr/>
        </p:nvSpPr>
        <p:spPr>
          <a:xfrm>
            <a:off x="11334750" y="5705475"/>
            <a:ext cx="1619250" cy="590550"/>
          </a:xfrm>
          <a:prstGeom prst="rect">
            <a:avLst/>
          </a:prstGeom>
          <a:solidFill>
            <a:srgbClr val="D7F0D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E7-T1</a:t>
            </a:r>
          </a:p>
        </p:txBody>
      </p:sp>
      <p:sp>
        <p:nvSpPr>
          <p:cNvPr id="65" name="drawio2pptx:shape:c384"/>
          <p:cNvSpPr/>
          <p:nvPr/>
        </p:nvSpPr>
        <p:spPr>
          <a:xfrm>
            <a:off x="12954000" y="57054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E7-R1</a:t>
            </a:r>
          </a:p>
        </p:txBody>
      </p:sp>
      <p:sp>
        <p:nvSpPr>
          <p:cNvPr id="66" name="drawio2pptx:shape:c385"/>
          <p:cNvSpPr/>
          <p:nvPr/>
        </p:nvSpPr>
        <p:spPr>
          <a:xfrm>
            <a:off x="14573250" y="57054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drawio2pptx:shape:c386"/>
          <p:cNvSpPr/>
          <p:nvPr/>
        </p:nvSpPr>
        <p:spPr>
          <a:xfrm>
            <a:off x="16192500" y="57054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drawio2pptx:shape:c387"/>
          <p:cNvSpPr/>
          <p:nvPr/>
        </p:nvSpPr>
        <p:spPr>
          <a:xfrm>
            <a:off x="7905750" y="6296025"/>
            <a:ext cx="1809750" cy="5905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A1A2E"/>
                </a:solidFill>
                <a:latin typeface="微软雅黑"/>
              </a:rPr>
              <a:t>E8 性能</a:t>
            </a:r>
          </a:p>
        </p:txBody>
      </p:sp>
      <p:sp>
        <p:nvSpPr>
          <p:cNvPr id="69" name="drawio2pptx:shape:c388"/>
          <p:cNvSpPr/>
          <p:nvPr/>
        </p:nvSpPr>
        <p:spPr>
          <a:xfrm>
            <a:off x="9715500" y="62960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E8-S1</a:t>
            </a:r>
          </a:p>
        </p:txBody>
      </p:sp>
      <p:sp>
        <p:nvSpPr>
          <p:cNvPr id="70" name="drawio2pptx:shape:c389"/>
          <p:cNvSpPr/>
          <p:nvPr/>
        </p:nvSpPr>
        <p:spPr>
          <a:xfrm>
            <a:off x="11334750" y="62960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1" name="drawio2pptx:shape:c390"/>
          <p:cNvSpPr/>
          <p:nvPr/>
        </p:nvSpPr>
        <p:spPr>
          <a:xfrm>
            <a:off x="12954000" y="62960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drawio2pptx:shape:c391"/>
          <p:cNvSpPr/>
          <p:nvPr/>
        </p:nvSpPr>
        <p:spPr>
          <a:xfrm>
            <a:off x="14573250" y="62960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E8-B1</a:t>
            </a:r>
          </a:p>
        </p:txBody>
      </p:sp>
      <p:sp>
        <p:nvSpPr>
          <p:cNvPr id="73" name="drawio2pptx:shape:c392"/>
          <p:cNvSpPr/>
          <p:nvPr/>
        </p:nvSpPr>
        <p:spPr>
          <a:xfrm>
            <a:off x="16192500" y="62960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4" name="drawio2pptx:shape:c393"/>
          <p:cNvSpPr/>
          <p:nvPr/>
        </p:nvSpPr>
        <p:spPr>
          <a:xfrm>
            <a:off x="7905750" y="6886575"/>
            <a:ext cx="1809750" cy="5905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A1A2E"/>
                </a:solidFill>
                <a:latin typeface="微软雅黑"/>
              </a:rPr>
              <a:t>E9 分散</a:t>
            </a:r>
          </a:p>
        </p:txBody>
      </p:sp>
      <p:sp>
        <p:nvSpPr>
          <p:cNvPr id="75" name="drawio2pptx:shape:c394"/>
          <p:cNvSpPr/>
          <p:nvPr/>
        </p:nvSpPr>
        <p:spPr>
          <a:xfrm>
            <a:off x="9715500" y="68865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E9-S1</a:t>
            </a:r>
          </a:p>
        </p:txBody>
      </p:sp>
      <p:sp>
        <p:nvSpPr>
          <p:cNvPr id="76" name="drawio2pptx:shape:c395"/>
          <p:cNvSpPr/>
          <p:nvPr/>
        </p:nvSpPr>
        <p:spPr>
          <a:xfrm>
            <a:off x="11334750" y="6886575"/>
            <a:ext cx="1619250" cy="590550"/>
          </a:xfrm>
          <a:prstGeom prst="rect">
            <a:avLst/>
          </a:prstGeom>
          <a:solidFill>
            <a:srgbClr val="D7F0D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E9-T1 / T2</a:t>
            </a:r>
          </a:p>
        </p:txBody>
      </p:sp>
      <p:sp>
        <p:nvSpPr>
          <p:cNvPr id="77" name="drawio2pptx:shape:c396"/>
          <p:cNvSpPr/>
          <p:nvPr/>
        </p:nvSpPr>
        <p:spPr>
          <a:xfrm>
            <a:off x="12954000" y="68865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8" name="drawio2pptx:shape:c397"/>
          <p:cNvSpPr/>
          <p:nvPr/>
        </p:nvSpPr>
        <p:spPr>
          <a:xfrm>
            <a:off x="14573250" y="68865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9" name="drawio2pptx:shape:c398"/>
          <p:cNvSpPr/>
          <p:nvPr/>
        </p:nvSpPr>
        <p:spPr>
          <a:xfrm>
            <a:off x="16192500" y="688657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drawio2pptx:shape:c399"/>
          <p:cNvSpPr/>
          <p:nvPr/>
        </p:nvSpPr>
        <p:spPr>
          <a:xfrm>
            <a:off x="7905750" y="7477125"/>
            <a:ext cx="1809750" cy="5905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u="none">
                <a:solidFill>
                  <a:srgbClr val="1A1A2E"/>
                </a:solidFill>
                <a:latin typeface="微软雅黑"/>
              </a:rPr>
              <a:t>* 通用</a:t>
            </a:r>
          </a:p>
        </p:txBody>
      </p:sp>
      <p:sp>
        <p:nvSpPr>
          <p:cNvPr id="81" name="drawio2pptx:shape:c400"/>
          <p:cNvSpPr/>
          <p:nvPr/>
        </p:nvSpPr>
        <p:spPr>
          <a:xfrm>
            <a:off x="9715500" y="7477125"/>
            <a:ext cx="1619250" cy="590550"/>
          </a:xfrm>
          <a:prstGeom prst="rect">
            <a:avLst/>
          </a:prstGeom>
          <a:solidFill>
            <a:srgbClr val="FFF1DB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U-S1</a:t>
            </a:r>
          </a:p>
        </p:txBody>
      </p:sp>
      <p:sp>
        <p:nvSpPr>
          <p:cNvPr id="82" name="drawio2pptx:shape:c401"/>
          <p:cNvSpPr/>
          <p:nvPr/>
        </p:nvSpPr>
        <p:spPr>
          <a:xfrm>
            <a:off x="11334750" y="74771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drawio2pptx:shape:c402"/>
          <p:cNvSpPr/>
          <p:nvPr/>
        </p:nvSpPr>
        <p:spPr>
          <a:xfrm>
            <a:off x="12954000" y="7477125"/>
            <a:ext cx="1619250" cy="5905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4" name="drawio2pptx:shape:c403"/>
          <p:cNvSpPr/>
          <p:nvPr/>
        </p:nvSpPr>
        <p:spPr>
          <a:xfrm>
            <a:off x="14573250" y="7477125"/>
            <a:ext cx="1619250" cy="590550"/>
          </a:xfrm>
          <a:prstGeom prst="rect">
            <a:avLst/>
          </a:prstGeom>
          <a:solidFill>
            <a:srgbClr val="D7F0D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U-B1</a:t>
            </a:r>
          </a:p>
        </p:txBody>
      </p:sp>
      <p:sp>
        <p:nvSpPr>
          <p:cNvPr id="85" name="drawio2pptx:shape:c404"/>
          <p:cNvSpPr/>
          <p:nvPr/>
        </p:nvSpPr>
        <p:spPr>
          <a:xfrm>
            <a:off x="16192500" y="7477125"/>
            <a:ext cx="1619250" cy="590550"/>
          </a:xfrm>
          <a:prstGeom prst="rect">
            <a:avLst/>
          </a:prstGeom>
          <a:solidFill>
            <a:srgbClr val="D7F0D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5" b="0" i="0" u="none">
                <a:solidFill>
                  <a:srgbClr val="1A1A2E"/>
                </a:solidFill>
                <a:latin typeface="微软雅黑"/>
              </a:rPr>
              <a:t>U-N1</a:t>
            </a:r>
          </a:p>
        </p:txBody>
      </p:sp>
      <p:sp>
        <p:nvSpPr>
          <p:cNvPr id="86" name="drawio2pptx:shape:c405"/>
          <p:cNvSpPr/>
          <p:nvPr/>
        </p:nvSpPr>
        <p:spPr>
          <a:xfrm>
            <a:off x="7905750" y="8753475"/>
            <a:ext cx="381000" cy="342900"/>
          </a:xfrm>
          <a:prstGeom prst="rect">
            <a:avLst/>
          </a:prstGeom>
          <a:solidFill>
            <a:srgbClr val="D7F0D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7" name="drawio2pptx:shape:c406"/>
          <p:cNvSpPr/>
          <p:nvPr/>
        </p:nvSpPr>
        <p:spPr>
          <a:xfrm>
            <a:off x="8382000" y="8753475"/>
            <a:ext cx="1905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启用</a:t>
            </a:r>
          </a:p>
        </p:txBody>
      </p:sp>
      <p:sp>
        <p:nvSpPr>
          <p:cNvPr id="88" name="drawio2pptx:shape:c407"/>
          <p:cNvSpPr/>
          <p:nvPr/>
        </p:nvSpPr>
        <p:spPr>
          <a:xfrm>
            <a:off x="10382250" y="8753475"/>
            <a:ext cx="381000" cy="342900"/>
          </a:xfrm>
          <a:prstGeom prst="rect">
            <a:avLst/>
          </a:prstGeom>
          <a:solidFill>
            <a:srgbClr val="FFF1DB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drawio2pptx:shape:c408"/>
          <p:cNvSpPr/>
          <p:nvPr/>
        </p:nvSpPr>
        <p:spPr>
          <a:xfrm>
            <a:off x="10858500" y="8753475"/>
            <a:ext cx="1905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试用</a:t>
            </a:r>
          </a:p>
        </p:txBody>
      </p:sp>
      <p:sp>
        <p:nvSpPr>
          <p:cNvPr id="90" name="drawio2pptx:shape:c409"/>
          <p:cNvSpPr/>
          <p:nvPr/>
        </p:nvSpPr>
        <p:spPr>
          <a:xfrm>
            <a:off x="12858750" y="8753475"/>
            <a:ext cx="381000" cy="342900"/>
          </a:xfrm>
          <a:prstGeom prst="rect">
            <a:avLst/>
          </a:prstGeom>
          <a:solidFill>
            <a:srgbClr val="FFFFFF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drawio2pptx:shape:c410"/>
          <p:cNvSpPr/>
          <p:nvPr/>
        </p:nvSpPr>
        <p:spPr>
          <a:xfrm>
            <a:off x="13335000" y="8753475"/>
            <a:ext cx="19050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候补</a:t>
            </a:r>
          </a:p>
        </p:txBody>
      </p:sp>
      <p:sp>
        <p:nvSpPr>
          <p:cNvPr id="92" name="drawio2pptx:shape:c411"/>
          <p:cNvSpPr/>
          <p:nvPr/>
        </p:nvSpPr>
        <p:spPr>
          <a:xfrm>
            <a:off x="15335250" y="8753475"/>
            <a:ext cx="2476500" cy="3429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另有 4 条旧剧本行（通用 T）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41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414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415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416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部件二：首轮兼容表（首轮设计者）</a:t>
            </a:r>
          </a:p>
        </p:txBody>
      </p:sp>
      <p:sp>
        <p:nvSpPr>
          <p:cNvPr id="6" name="drawio2pptx:shape:c417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418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419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9 / 18</a:t>
            </a:r>
          </a:p>
        </p:txBody>
      </p:sp>
      <p:sp>
        <p:nvSpPr>
          <p:cNvPr id="9" name="drawio2pptx:shape:c420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COMPONENT 2 · FIRST-PASS TABLE</a:t>
            </a:r>
          </a:p>
        </p:txBody>
      </p:sp>
      <p:sp>
        <p:nvSpPr>
          <p:cNvPr id="10" name="drawio2pptx:shape:c421"/>
          <p:cNvSpPr/>
          <p:nvPr/>
        </p:nvSpPr>
        <p:spPr>
          <a:xfrm>
            <a:off x="666750" y="163830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drawio2pptx:shape:c422"/>
          <p:cNvSpPr/>
          <p:nvPr/>
        </p:nvSpPr>
        <p:spPr>
          <a:xfrm>
            <a:off x="933450" y="1571625"/>
            <a:ext cx="630555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作用：里程碑开始前，按特征在规划器的设计上叠加预防措施</a:t>
            </a:r>
          </a:p>
        </p:txBody>
      </p:sp>
      <p:sp>
        <p:nvSpPr>
          <p:cNvPr id="12" name="drawio2pptx:shape:c423"/>
          <p:cNvSpPr/>
          <p:nvPr/>
        </p:nvSpPr>
        <p:spPr>
          <a:xfrm>
            <a:off x="666750" y="264795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drawio2pptx:shape:c424"/>
          <p:cNvSpPr/>
          <p:nvPr/>
        </p:nvSpPr>
        <p:spPr>
          <a:xfrm>
            <a:off x="933450" y="2581275"/>
            <a:ext cx="630555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F0 等于规划器原选择；F1–F6 是增量：给实现者异常清单、加只读审阅者、换形状、加预算</a:t>
            </a:r>
          </a:p>
        </p:txBody>
      </p:sp>
      <p:sp>
        <p:nvSpPr>
          <p:cNvPr id="14" name="drawio2pptx:shape:c425"/>
          <p:cNvSpPr/>
          <p:nvPr/>
        </p:nvSpPr>
        <p:spPr>
          <a:xfrm>
            <a:off x="666750" y="365760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drawio2pptx:shape:c426"/>
          <p:cNvSpPr/>
          <p:nvPr/>
        </p:nvSpPr>
        <p:spPr>
          <a:xfrm>
            <a:off x="933450" y="3590925"/>
            <a:ext cx="630555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没有同场对照：线上随机分配做初筛，错题重跑做最终判定</a:t>
            </a:r>
          </a:p>
        </p:txBody>
      </p:sp>
      <p:sp>
        <p:nvSpPr>
          <p:cNvPr id="16" name="drawio2pptx:shape:c427"/>
          <p:cNvSpPr/>
          <p:nvPr/>
        </p:nvSpPr>
        <p:spPr>
          <a:xfrm>
            <a:off x="666750" y="466725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drawio2pptx:shape:c428"/>
          <p:cNvSpPr/>
          <p:nvPr/>
        </p:nvSpPr>
        <p:spPr>
          <a:xfrm>
            <a:off x="933450" y="4600575"/>
            <a:ext cx="630555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判定：最终结果不差，总成本不高于“F0 + 事后修复”，目标错误类确实减少</a:t>
            </a:r>
          </a:p>
        </p:txBody>
      </p:sp>
      <p:sp>
        <p:nvSpPr>
          <p:cNvPr id="18" name="drawio2pptx:shape:c429"/>
          <p:cNvSpPr/>
          <p:nvPr/>
        </p:nvSpPr>
        <p:spPr>
          <a:xfrm>
            <a:off x="7620000" y="1619250"/>
            <a:ext cx="2667000" cy="51435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微软雅黑"/>
              </a:rPr>
              <a:t>里程碑特征</a:t>
            </a:r>
          </a:p>
        </p:txBody>
      </p:sp>
      <p:sp>
        <p:nvSpPr>
          <p:cNvPr id="19" name="drawio2pptx:shape:c430"/>
          <p:cNvSpPr/>
          <p:nvPr/>
        </p:nvSpPr>
        <p:spPr>
          <a:xfrm>
            <a:off x="7620000" y="2286000"/>
            <a:ext cx="26670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drawio2pptx:shape:c431"/>
          <p:cNvSpPr/>
          <p:nvPr/>
        </p:nvSpPr>
        <p:spPr>
          <a:xfrm>
            <a:off x="7753350" y="2286000"/>
            <a:ext cx="142875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类型</a:t>
            </a:r>
          </a:p>
        </p:txBody>
      </p:sp>
      <p:sp>
        <p:nvSpPr>
          <p:cNvPr id="21" name="drawio2pptx:shape:c432"/>
          <p:cNvSpPr/>
          <p:nvPr/>
        </p:nvSpPr>
        <p:spPr>
          <a:xfrm>
            <a:off x="9144000" y="2286000"/>
            <a:ext cx="104775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基础型</a:t>
            </a:r>
          </a:p>
        </p:txBody>
      </p:sp>
      <p:sp>
        <p:nvSpPr>
          <p:cNvPr id="22" name="drawio2pptx:shape:c433"/>
          <p:cNvSpPr/>
          <p:nvPr/>
        </p:nvSpPr>
        <p:spPr>
          <a:xfrm>
            <a:off x="10382250" y="2457450"/>
            <a:ext cx="628650" cy="1905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drawio2pptx:shape:c434"/>
          <p:cNvSpPr/>
          <p:nvPr/>
        </p:nvSpPr>
        <p:spPr>
          <a:xfrm>
            <a:off x="7620000" y="2914650"/>
            <a:ext cx="2667000" cy="5524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drawio2pptx:shape:c435"/>
          <p:cNvSpPr/>
          <p:nvPr/>
        </p:nvSpPr>
        <p:spPr>
          <a:xfrm>
            <a:off x="7753350" y="2914650"/>
            <a:ext cx="142875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文件数</a:t>
            </a:r>
          </a:p>
        </p:txBody>
      </p:sp>
      <p:sp>
        <p:nvSpPr>
          <p:cNvPr id="25" name="drawio2pptx:shape:c436"/>
          <p:cNvSpPr/>
          <p:nvPr/>
        </p:nvSpPr>
        <p:spPr>
          <a:xfrm>
            <a:off x="9144000" y="2914650"/>
            <a:ext cx="104775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4</a:t>
            </a:r>
          </a:p>
        </p:txBody>
      </p:sp>
      <p:sp>
        <p:nvSpPr>
          <p:cNvPr id="26" name="drawio2pptx:shape:c437"/>
          <p:cNvSpPr/>
          <p:nvPr/>
        </p:nvSpPr>
        <p:spPr>
          <a:xfrm>
            <a:off x="10382250" y="3086100"/>
            <a:ext cx="438150" cy="1905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drawio2pptx:shape:c438"/>
          <p:cNvSpPr/>
          <p:nvPr/>
        </p:nvSpPr>
        <p:spPr>
          <a:xfrm>
            <a:off x="7620000" y="3543300"/>
            <a:ext cx="26670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drawio2pptx:shape:c439"/>
          <p:cNvSpPr/>
          <p:nvPr/>
        </p:nvSpPr>
        <p:spPr>
          <a:xfrm>
            <a:off x="7753350" y="3543300"/>
            <a:ext cx="142875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公共符号</a:t>
            </a:r>
          </a:p>
        </p:txBody>
      </p:sp>
      <p:sp>
        <p:nvSpPr>
          <p:cNvPr id="29" name="drawio2pptx:shape:c440"/>
          <p:cNvSpPr/>
          <p:nvPr/>
        </p:nvSpPr>
        <p:spPr>
          <a:xfrm>
            <a:off x="9144000" y="3543300"/>
            <a:ext cx="104775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18</a:t>
            </a:r>
          </a:p>
        </p:txBody>
      </p:sp>
      <p:sp>
        <p:nvSpPr>
          <p:cNvPr id="30" name="drawio2pptx:shape:c441"/>
          <p:cNvSpPr/>
          <p:nvPr/>
        </p:nvSpPr>
        <p:spPr>
          <a:xfrm>
            <a:off x="10382250" y="3714750"/>
            <a:ext cx="1009650" cy="1905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drawio2pptx:shape:c442"/>
          <p:cNvSpPr/>
          <p:nvPr/>
        </p:nvSpPr>
        <p:spPr>
          <a:xfrm>
            <a:off x="7620000" y="4171950"/>
            <a:ext cx="2667000" cy="5524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drawio2pptx:shape:c443"/>
          <p:cNvSpPr/>
          <p:nvPr/>
        </p:nvSpPr>
        <p:spPr>
          <a:xfrm>
            <a:off x="7753350" y="4171950"/>
            <a:ext cx="142875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异常数</a:t>
            </a:r>
          </a:p>
        </p:txBody>
      </p:sp>
      <p:sp>
        <p:nvSpPr>
          <p:cNvPr id="33" name="drawio2pptx:shape:c444"/>
          <p:cNvSpPr/>
          <p:nvPr/>
        </p:nvSpPr>
        <p:spPr>
          <a:xfrm>
            <a:off x="9144000" y="4171950"/>
            <a:ext cx="104775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6</a:t>
            </a:r>
          </a:p>
        </p:txBody>
      </p:sp>
      <p:sp>
        <p:nvSpPr>
          <p:cNvPr id="34" name="drawio2pptx:shape:c445"/>
          <p:cNvSpPr/>
          <p:nvPr/>
        </p:nvSpPr>
        <p:spPr>
          <a:xfrm>
            <a:off x="10382250" y="4343400"/>
            <a:ext cx="723900" cy="1905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drawio2pptx:shape:c446"/>
          <p:cNvSpPr/>
          <p:nvPr/>
        </p:nvSpPr>
        <p:spPr>
          <a:xfrm>
            <a:off x="7620000" y="4800600"/>
            <a:ext cx="2667000" cy="5524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drawio2pptx:shape:c447"/>
          <p:cNvSpPr/>
          <p:nvPr/>
        </p:nvSpPr>
        <p:spPr>
          <a:xfrm>
            <a:off x="7753350" y="4800600"/>
            <a:ext cx="142875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状态转换</a:t>
            </a:r>
          </a:p>
        </p:txBody>
      </p:sp>
      <p:sp>
        <p:nvSpPr>
          <p:cNvPr id="37" name="drawio2pptx:shape:c448"/>
          <p:cNvSpPr/>
          <p:nvPr/>
        </p:nvSpPr>
        <p:spPr>
          <a:xfrm>
            <a:off x="9144000" y="4800600"/>
            <a:ext cx="104775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0</a:t>
            </a:r>
          </a:p>
        </p:txBody>
      </p:sp>
      <p:sp>
        <p:nvSpPr>
          <p:cNvPr id="38" name="drawio2pptx:shape:c449"/>
          <p:cNvSpPr/>
          <p:nvPr/>
        </p:nvSpPr>
        <p:spPr>
          <a:xfrm>
            <a:off x="10382250" y="4972050"/>
            <a:ext cx="152400" cy="1905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drawio2pptx:shape:c450"/>
          <p:cNvSpPr/>
          <p:nvPr/>
        </p:nvSpPr>
        <p:spPr>
          <a:xfrm>
            <a:off x="7620000" y="5429250"/>
            <a:ext cx="2667000" cy="5524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drawio2pptx:shape:c451"/>
          <p:cNvSpPr/>
          <p:nvPr/>
        </p:nvSpPr>
        <p:spPr>
          <a:xfrm>
            <a:off x="7753350" y="5429250"/>
            <a:ext cx="142875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依赖深度</a:t>
            </a:r>
          </a:p>
        </p:txBody>
      </p:sp>
      <p:sp>
        <p:nvSpPr>
          <p:cNvPr id="41" name="drawio2pptx:shape:c452"/>
          <p:cNvSpPr/>
          <p:nvPr/>
        </p:nvSpPr>
        <p:spPr>
          <a:xfrm>
            <a:off x="9144000" y="5429250"/>
            <a:ext cx="1047750" cy="5524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0</a:t>
            </a:r>
          </a:p>
        </p:txBody>
      </p:sp>
      <p:sp>
        <p:nvSpPr>
          <p:cNvPr id="42" name="drawio2pptx:shape:c453"/>
          <p:cNvSpPr/>
          <p:nvPr/>
        </p:nvSpPr>
        <p:spPr>
          <a:xfrm>
            <a:off x="10382250" y="5600700"/>
            <a:ext cx="152400" cy="1905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drawio2pptx:shape:c454"/>
          <p:cNvSpPr/>
          <p:nvPr/>
        </p:nvSpPr>
        <p:spPr>
          <a:xfrm>
            <a:off x="11572875" y="3810000"/>
            <a:ext cx="5715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F28C28"/>
                </a:solidFill>
                <a:latin typeface="Arial"/>
              </a:rPr>
              <a:t>→</a:t>
            </a:r>
          </a:p>
        </p:txBody>
      </p:sp>
      <p:sp>
        <p:nvSpPr>
          <p:cNvPr id="44" name="drawio2pptx:shape:c455"/>
          <p:cNvSpPr/>
          <p:nvPr/>
        </p:nvSpPr>
        <p:spPr>
          <a:xfrm>
            <a:off x="12239625" y="1619250"/>
            <a:ext cx="2476500" cy="51435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微软雅黑"/>
              </a:rPr>
              <a:t>匹配到的条目</a:t>
            </a:r>
          </a:p>
        </p:txBody>
      </p:sp>
      <p:sp>
        <p:nvSpPr>
          <p:cNvPr id="45" name="drawio2pptx:shape:c456"/>
          <p:cNvSpPr/>
          <p:nvPr/>
        </p:nvSpPr>
        <p:spPr>
          <a:xfrm>
            <a:off x="12239625" y="2286000"/>
            <a:ext cx="2476500" cy="990600"/>
          </a:xfrm>
          <a:prstGeom prst="roundRect">
            <a:avLst/>
          </a:prstGeom>
          <a:solidFill>
            <a:srgbClr val="FFF1DB"/>
          </a:solidFill>
          <a:ln w="285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drawio2pptx:shape:c457"/>
          <p:cNvSpPr/>
          <p:nvPr/>
        </p:nvSpPr>
        <p:spPr>
          <a:xfrm>
            <a:off x="12372975" y="2305050"/>
            <a:ext cx="22098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A1A2E"/>
                </a:solidFill>
                <a:latin typeface="微软雅黑"/>
              </a:rPr>
              <a:t>F1</a:t>
            </a:r>
          </a:p>
        </p:txBody>
      </p:sp>
      <p:sp>
        <p:nvSpPr>
          <p:cNvPr id="47" name="drawio2pptx:shape:c458"/>
          <p:cNvSpPr/>
          <p:nvPr/>
        </p:nvSpPr>
        <p:spPr>
          <a:xfrm>
            <a:off x="12372975" y="2724150"/>
            <a:ext cx="22098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微软雅黑"/>
              </a:rPr>
              <a:t>基础型 → 加合同评审</a:t>
            </a:r>
          </a:p>
        </p:txBody>
      </p:sp>
      <p:sp>
        <p:nvSpPr>
          <p:cNvPr id="48" name="drawio2pptx:shape:c459"/>
          <p:cNvSpPr/>
          <p:nvPr/>
        </p:nvSpPr>
        <p:spPr>
          <a:xfrm>
            <a:off x="12239625" y="3429000"/>
            <a:ext cx="2476500" cy="9906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drawio2pptx:shape:c460"/>
          <p:cNvSpPr/>
          <p:nvPr/>
        </p:nvSpPr>
        <p:spPr>
          <a:xfrm>
            <a:off x="12372975" y="3448050"/>
            <a:ext cx="22098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A1A2E"/>
                </a:solidFill>
                <a:latin typeface="微软雅黑"/>
              </a:rPr>
              <a:t>F2</a:t>
            </a:r>
          </a:p>
        </p:txBody>
      </p:sp>
      <p:sp>
        <p:nvSpPr>
          <p:cNvPr id="50" name="drawio2pptx:shape:c461"/>
          <p:cNvSpPr/>
          <p:nvPr/>
        </p:nvSpPr>
        <p:spPr>
          <a:xfrm>
            <a:off x="12372975" y="3867150"/>
            <a:ext cx="22098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微软雅黑"/>
              </a:rPr>
              <a:t>异常数 ≥ 5 → 异常清单</a:t>
            </a:r>
          </a:p>
        </p:txBody>
      </p:sp>
      <p:sp>
        <p:nvSpPr>
          <p:cNvPr id="51" name="drawio2pptx:shape:c462"/>
          <p:cNvSpPr/>
          <p:nvPr/>
        </p:nvSpPr>
        <p:spPr>
          <a:xfrm>
            <a:off x="12239625" y="4572000"/>
            <a:ext cx="2476500" cy="990600"/>
          </a:xfrm>
          <a:prstGeom prst="roundRect">
            <a:avLst/>
          </a:prstGeom>
          <a:solidFill>
            <a:srgbClr val="D7F0DF"/>
          </a:solidFill>
          <a:ln w="285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drawio2pptx:shape:c463"/>
          <p:cNvSpPr/>
          <p:nvPr/>
        </p:nvSpPr>
        <p:spPr>
          <a:xfrm>
            <a:off x="12372975" y="4591050"/>
            <a:ext cx="22098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1A1A2E"/>
                </a:solidFill>
                <a:latin typeface="微软雅黑"/>
              </a:rPr>
              <a:t>F0</a:t>
            </a:r>
          </a:p>
        </p:txBody>
      </p:sp>
      <p:sp>
        <p:nvSpPr>
          <p:cNvPr id="53" name="drawio2pptx:shape:c464"/>
          <p:cNvSpPr/>
          <p:nvPr/>
        </p:nvSpPr>
        <p:spPr>
          <a:xfrm>
            <a:off x="12372975" y="5010150"/>
            <a:ext cx="22098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4A5568"/>
                </a:solidFill>
                <a:latin typeface="微软雅黑"/>
              </a:rPr>
              <a:t>规划器原样</a:t>
            </a:r>
          </a:p>
        </p:txBody>
      </p:sp>
      <p:sp>
        <p:nvSpPr>
          <p:cNvPr id="54" name="drawio2pptx:shape:c465"/>
          <p:cNvSpPr/>
          <p:nvPr/>
        </p:nvSpPr>
        <p:spPr>
          <a:xfrm>
            <a:off x="14763750" y="3810000"/>
            <a:ext cx="5715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F28C28"/>
                </a:solidFill>
                <a:latin typeface="Arial"/>
              </a:rPr>
              <a:t>→</a:t>
            </a:r>
          </a:p>
        </p:txBody>
      </p:sp>
      <p:sp>
        <p:nvSpPr>
          <p:cNvPr id="55" name="drawio2pptx:shape:c466"/>
          <p:cNvSpPr/>
          <p:nvPr/>
        </p:nvSpPr>
        <p:spPr>
          <a:xfrm>
            <a:off x="15382875" y="1619250"/>
            <a:ext cx="2857500" cy="51435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微软雅黑"/>
              </a:rPr>
              <a:t>叠加后的拓扑</a:t>
            </a:r>
          </a:p>
        </p:txBody>
      </p:sp>
      <p:sp>
        <p:nvSpPr>
          <p:cNvPr id="56" name="drawio2pptx:shape:c467"/>
          <p:cNvSpPr/>
          <p:nvPr/>
        </p:nvSpPr>
        <p:spPr>
          <a:xfrm>
            <a:off x="15382875" y="2286000"/>
            <a:ext cx="2857500" cy="76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drawio2pptx:shape:c468"/>
          <p:cNvSpPr/>
          <p:nvPr/>
        </p:nvSpPr>
        <p:spPr>
          <a:xfrm>
            <a:off x="15516225" y="2419350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58" name="drawio2pptx:shape-image:c46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6225" y="2419350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59" name="drawio2pptx:shape:c469"/>
          <p:cNvSpPr/>
          <p:nvPr/>
        </p:nvSpPr>
        <p:spPr>
          <a:xfrm>
            <a:off x="16106775" y="2286000"/>
            <a:ext cx="20955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出题者</a:t>
            </a:r>
          </a:p>
        </p:txBody>
      </p:sp>
      <p:sp>
        <p:nvSpPr>
          <p:cNvPr id="60" name="drawio2pptx:shape:c470"/>
          <p:cNvSpPr/>
          <p:nvPr/>
        </p:nvSpPr>
        <p:spPr>
          <a:xfrm>
            <a:off x="16478250" y="3009900"/>
            <a:ext cx="6667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u="none">
                <a:solidFill>
                  <a:srgbClr val="0170C1"/>
                </a:solidFill>
                <a:latin typeface="Arial"/>
              </a:rPr>
              <a:t>↓</a:t>
            </a:r>
          </a:p>
        </p:txBody>
      </p:sp>
      <p:sp>
        <p:nvSpPr>
          <p:cNvPr id="61" name="drawio2pptx:shape:c471"/>
          <p:cNvSpPr/>
          <p:nvPr/>
        </p:nvSpPr>
        <p:spPr>
          <a:xfrm>
            <a:off x="15382875" y="3238500"/>
            <a:ext cx="2857500" cy="76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drawio2pptx:shape:c472"/>
          <p:cNvSpPr/>
          <p:nvPr/>
        </p:nvSpPr>
        <p:spPr>
          <a:xfrm>
            <a:off x="15516225" y="3371850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3" name="drawio2pptx:shape-image:c47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6225" y="3371850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64" name="drawio2pptx:shape:c473"/>
          <p:cNvSpPr/>
          <p:nvPr/>
        </p:nvSpPr>
        <p:spPr>
          <a:xfrm>
            <a:off x="16106775" y="3238500"/>
            <a:ext cx="20955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实现者</a:t>
            </a:r>
          </a:p>
        </p:txBody>
      </p:sp>
      <p:sp>
        <p:nvSpPr>
          <p:cNvPr id="65" name="drawio2pptx:shape:c474"/>
          <p:cNvSpPr/>
          <p:nvPr/>
        </p:nvSpPr>
        <p:spPr>
          <a:xfrm>
            <a:off x="16478250" y="3962400"/>
            <a:ext cx="6667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u="none">
                <a:solidFill>
                  <a:srgbClr val="0170C1"/>
                </a:solidFill>
                <a:latin typeface="Arial"/>
              </a:rPr>
              <a:t>↓</a:t>
            </a:r>
          </a:p>
        </p:txBody>
      </p:sp>
      <p:sp>
        <p:nvSpPr>
          <p:cNvPr id="66" name="drawio2pptx:shape:c475"/>
          <p:cNvSpPr/>
          <p:nvPr/>
        </p:nvSpPr>
        <p:spPr>
          <a:xfrm>
            <a:off x="15382875" y="4191000"/>
            <a:ext cx="2857500" cy="762000"/>
          </a:xfrm>
          <a:prstGeom prst="roundRect">
            <a:avLst/>
          </a:prstGeom>
          <a:solidFill>
            <a:srgbClr val="FFF4E8"/>
          </a:solidFill>
          <a:ln w="285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7" name="drawio2pptx:shape:c476"/>
          <p:cNvSpPr/>
          <p:nvPr/>
        </p:nvSpPr>
        <p:spPr>
          <a:xfrm>
            <a:off x="15516225" y="4324350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68" name="drawio2pptx:shape-image:c47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16225" y="4324350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69" name="drawio2pptx:shape:c477"/>
          <p:cNvSpPr/>
          <p:nvPr/>
        </p:nvSpPr>
        <p:spPr>
          <a:xfrm>
            <a:off x="16106775" y="4191000"/>
            <a:ext cx="20955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合同评审（F1 新增）</a:t>
            </a:r>
          </a:p>
        </p:txBody>
      </p:sp>
      <p:sp>
        <p:nvSpPr>
          <p:cNvPr id="70" name="drawio2pptx:shape:c478"/>
          <p:cNvSpPr/>
          <p:nvPr/>
        </p:nvSpPr>
        <p:spPr>
          <a:xfrm>
            <a:off x="16478250" y="4914900"/>
            <a:ext cx="6667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u="none">
                <a:solidFill>
                  <a:srgbClr val="0170C1"/>
                </a:solidFill>
                <a:latin typeface="Arial"/>
              </a:rPr>
              <a:t>↓</a:t>
            </a:r>
          </a:p>
        </p:txBody>
      </p:sp>
      <p:sp>
        <p:nvSpPr>
          <p:cNvPr id="71" name="drawio2pptx:shape:c479"/>
          <p:cNvSpPr/>
          <p:nvPr/>
        </p:nvSpPr>
        <p:spPr>
          <a:xfrm>
            <a:off x="15382875" y="5143500"/>
            <a:ext cx="2857500" cy="76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drawio2pptx:shape:c480"/>
          <p:cNvSpPr/>
          <p:nvPr/>
        </p:nvSpPr>
        <p:spPr>
          <a:xfrm>
            <a:off x="15516225" y="5276850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3" name="drawio2pptx:shape-image:c48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16225" y="5276850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74" name="drawio2pptx:shape:c481"/>
          <p:cNvSpPr/>
          <p:nvPr/>
        </p:nvSpPr>
        <p:spPr>
          <a:xfrm>
            <a:off x="16106775" y="5143500"/>
            <a:ext cx="20955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门修复者</a:t>
            </a:r>
          </a:p>
        </p:txBody>
      </p:sp>
      <p:sp>
        <p:nvSpPr>
          <p:cNvPr id="75" name="drawio2pptx:shape:c482"/>
          <p:cNvSpPr/>
          <p:nvPr/>
        </p:nvSpPr>
        <p:spPr>
          <a:xfrm>
            <a:off x="666750" y="6858000"/>
            <a:ext cx="16954500" cy="66675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6" name="drawio2pptx:shape:c483"/>
          <p:cNvSpPr/>
          <p:nvPr/>
        </p:nvSpPr>
        <p:spPr>
          <a:xfrm>
            <a:off x="857250" y="6962775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77" name="drawio2pptx:shape-image:c48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6962775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78" name="drawio2pptx:shape:c484"/>
          <p:cNvSpPr/>
          <p:nvPr/>
        </p:nvSpPr>
        <p:spPr>
          <a:xfrm>
            <a:off x="1428750" y="6858000"/>
            <a:ext cx="160972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 u="none">
                <a:solidFill>
                  <a:srgbClr val="1A1A2E"/>
                </a:solidFill>
                <a:latin typeface="微软雅黑"/>
              </a:rPr>
              <a:t>试用中的 F 条目线上随机分配：符合触发特征的里程碑，一半用该条目、一半用 F0，分配结果记入账本（assignment = randomized）</a:t>
            </a:r>
          </a:p>
        </p:txBody>
      </p:sp>
      <p:sp>
        <p:nvSpPr>
          <p:cNvPr id="79" name="drawio2pptx:shape:c485"/>
          <p:cNvSpPr/>
          <p:nvPr/>
        </p:nvSpPr>
        <p:spPr>
          <a:xfrm>
            <a:off x="666750" y="7715250"/>
            <a:ext cx="16954500" cy="66675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0" name="drawio2pptx:shape:c486"/>
          <p:cNvSpPr/>
          <p:nvPr/>
        </p:nvSpPr>
        <p:spPr>
          <a:xfrm>
            <a:off x="857250" y="7820025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1" name="drawio2pptx:shape-image:c48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7250" y="7820025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82" name="drawio2pptx:shape:c487"/>
          <p:cNvSpPr/>
          <p:nvPr/>
        </p:nvSpPr>
        <p:spPr>
          <a:xfrm>
            <a:off x="1428750" y="7715250"/>
            <a:ext cx="160972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 u="none">
                <a:solidFill>
                  <a:srgbClr val="1A1A2E"/>
                </a:solidFill>
                <a:latin typeface="微软雅黑"/>
              </a:rPr>
              <a:t>首轮通过率只做预测校准（触发 → 实际错误类的对应），启用与否只看预防效果，两者分开统计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48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490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491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492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两张表如何互通</a:t>
            </a:r>
          </a:p>
        </p:txBody>
      </p:sp>
      <p:sp>
        <p:nvSpPr>
          <p:cNvPr id="6" name="drawio2pptx:shape:c493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494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495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10 / 18</a:t>
            </a:r>
          </a:p>
        </p:txBody>
      </p:sp>
      <p:sp>
        <p:nvSpPr>
          <p:cNvPr id="9" name="drawio2pptx:shape:c496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HOW THE TWO TABLES CONNECT</a:t>
            </a:r>
          </a:p>
        </p:txBody>
      </p:sp>
      <p:sp>
        <p:nvSpPr>
          <p:cNvPr id="10" name="drawio2pptx:shape:c497"/>
          <p:cNvSpPr/>
          <p:nvPr/>
        </p:nvSpPr>
        <p:spPr>
          <a:xfrm>
            <a:off x="666750" y="1714500"/>
            <a:ext cx="16954500" cy="666750"/>
          </a:xfrm>
          <a:prstGeom prst="roundRect">
            <a:avLst/>
          </a:prstGeom>
          <a:solidFill>
            <a:srgbClr val="E8F1FA"/>
          </a:solidFill>
          <a:ln w="19050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1A1A2E"/>
                </a:solidFill>
                <a:latin typeface="微软雅黑"/>
              </a:rPr>
              <a:t>共享：行格式、状态机、账本、角色池和模板库</a:t>
            </a:r>
          </a:p>
        </p:txBody>
      </p:sp>
      <p:sp>
        <p:nvSpPr>
          <p:cNvPr id="11" name="drawio2pptx:shape:c498"/>
          <p:cNvSpPr/>
          <p:nvPr/>
        </p:nvSpPr>
        <p:spPr>
          <a:xfrm>
            <a:off x="1143000" y="2857500"/>
            <a:ext cx="5334000" cy="2857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drawio2pptx:shape:c499"/>
          <p:cNvSpPr/>
          <p:nvPr/>
        </p:nvSpPr>
        <p:spPr>
          <a:xfrm>
            <a:off x="3390900" y="3086100"/>
            <a:ext cx="8382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3" name="drawio2pptx:shape-image:c49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0900" y="3086100"/>
            <a:ext cx="838200" cy="838200"/>
          </a:xfrm>
          <a:prstGeom prst="rect">
            <a:avLst/>
          </a:prstGeom>
          <a:ln>
            <a:noFill/>
          </a:ln>
        </p:spPr>
      </p:pic>
      <p:sp>
        <p:nvSpPr>
          <p:cNvPr id="14" name="drawio2pptx:shape:c500"/>
          <p:cNvSpPr/>
          <p:nvPr/>
        </p:nvSpPr>
        <p:spPr>
          <a:xfrm>
            <a:off x="1143000" y="4095750"/>
            <a:ext cx="5334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u="none">
                <a:solidFill>
                  <a:srgbClr val="1A1A2E"/>
                </a:solidFill>
                <a:latin typeface="微软雅黑"/>
              </a:rPr>
              <a:t>修复剧本表</a:t>
            </a:r>
          </a:p>
        </p:txBody>
      </p:sp>
      <p:sp>
        <p:nvSpPr>
          <p:cNvPr id="15" name="drawio2pptx:shape:c501"/>
          <p:cNvSpPr/>
          <p:nvPr/>
        </p:nvSpPr>
        <p:spPr>
          <a:xfrm>
            <a:off x="1143000" y="4762500"/>
            <a:ext cx="5334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4A5568"/>
                </a:solidFill>
                <a:latin typeface="微软雅黑"/>
              </a:rPr>
              <a:t>事后修</a:t>
            </a:r>
          </a:p>
        </p:txBody>
      </p:sp>
      <p:sp>
        <p:nvSpPr>
          <p:cNvPr id="16" name="drawio2pptx:shape:c502"/>
          <p:cNvSpPr/>
          <p:nvPr/>
        </p:nvSpPr>
        <p:spPr>
          <a:xfrm>
            <a:off x="11811000" y="2857500"/>
            <a:ext cx="5334000" cy="2857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drawio2pptx:shape:c503"/>
          <p:cNvSpPr/>
          <p:nvPr/>
        </p:nvSpPr>
        <p:spPr>
          <a:xfrm>
            <a:off x="14058900" y="3086100"/>
            <a:ext cx="8382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drawio2pptx:shape-image:c50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58900" y="3086100"/>
            <a:ext cx="838200" cy="838200"/>
          </a:xfrm>
          <a:prstGeom prst="rect">
            <a:avLst/>
          </a:prstGeom>
          <a:ln>
            <a:noFill/>
          </a:ln>
        </p:spPr>
      </p:pic>
      <p:sp>
        <p:nvSpPr>
          <p:cNvPr id="19" name="drawio2pptx:shape:c504"/>
          <p:cNvSpPr/>
          <p:nvPr/>
        </p:nvSpPr>
        <p:spPr>
          <a:xfrm>
            <a:off x="11811000" y="4095750"/>
            <a:ext cx="5334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u="none">
                <a:solidFill>
                  <a:srgbClr val="1A1A2E"/>
                </a:solidFill>
                <a:latin typeface="微软雅黑"/>
              </a:rPr>
              <a:t>首轮兼容表</a:t>
            </a:r>
          </a:p>
        </p:txBody>
      </p:sp>
      <p:sp>
        <p:nvSpPr>
          <p:cNvPr id="20" name="drawio2pptx:shape:c505"/>
          <p:cNvSpPr/>
          <p:nvPr/>
        </p:nvSpPr>
        <p:spPr>
          <a:xfrm>
            <a:off x="11811000" y="4762500"/>
            <a:ext cx="5334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4A5568"/>
                </a:solidFill>
                <a:latin typeface="微软雅黑"/>
              </a:rPr>
              <a:t>事前防</a:t>
            </a:r>
          </a:p>
        </p:txBody>
      </p:sp>
      <p:sp>
        <p:nvSpPr>
          <p:cNvPr id="21" name="drawio2pptx:shape:c506"/>
          <p:cNvSpPr/>
          <p:nvPr/>
        </p:nvSpPr>
        <p:spPr>
          <a:xfrm>
            <a:off x="6667500" y="3524250"/>
            <a:ext cx="4953000" cy="571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drawio2pptx:shape:c507"/>
          <p:cNvSpPr/>
          <p:nvPr/>
        </p:nvSpPr>
        <p:spPr>
          <a:xfrm>
            <a:off x="10953750" y="3200400"/>
            <a:ext cx="762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u="none">
                <a:solidFill>
                  <a:srgbClr val="F28C28"/>
                </a:solidFill>
                <a:latin typeface="Arial"/>
              </a:rPr>
              <a:t>▶</a:t>
            </a:r>
          </a:p>
        </p:txBody>
      </p:sp>
      <p:sp>
        <p:nvSpPr>
          <p:cNvPr id="23" name="drawio2pptx:shape:c508"/>
          <p:cNvSpPr/>
          <p:nvPr/>
        </p:nvSpPr>
        <p:spPr>
          <a:xfrm>
            <a:off x="6667500" y="3657600"/>
            <a:ext cx="49530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提升为预防版本
某行在某类错误上反复有效，且该类错误在某种里程碑上频发</a:t>
            </a:r>
          </a:p>
        </p:txBody>
      </p:sp>
      <p:sp>
        <p:nvSpPr>
          <p:cNvPr id="24" name="drawio2pptx:shape:c509"/>
          <p:cNvSpPr/>
          <p:nvPr/>
        </p:nvSpPr>
        <p:spPr>
          <a:xfrm>
            <a:off x="6667500" y="5048250"/>
            <a:ext cx="4953000" cy="571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drawio2pptx:shape:c510"/>
          <p:cNvSpPr/>
          <p:nvPr/>
        </p:nvSpPr>
        <p:spPr>
          <a:xfrm>
            <a:off x="6572250" y="4724400"/>
            <a:ext cx="76200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u="none">
                <a:solidFill>
                  <a:srgbClr val="0170C1"/>
                </a:solidFill>
                <a:latin typeface="Arial"/>
              </a:rPr>
              <a:t>◀</a:t>
            </a:r>
          </a:p>
        </p:txBody>
      </p:sp>
      <p:sp>
        <p:nvSpPr>
          <p:cNvPr id="26" name="drawio2pptx:shape:c511"/>
          <p:cNvSpPr/>
          <p:nvPr/>
        </p:nvSpPr>
        <p:spPr>
          <a:xfrm>
            <a:off x="6667500" y="5181600"/>
            <a:ext cx="49530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1A1A2E"/>
                </a:solidFill>
                <a:latin typeface="微软雅黑"/>
              </a:rPr>
              <a:t>形状与角色作为前置条件
首轮已加的角色，剧本不重复加</a:t>
            </a:r>
          </a:p>
        </p:txBody>
      </p:sp>
      <p:sp>
        <p:nvSpPr>
          <p:cNvPr id="27" name="drawio2pptx:shape:c512"/>
          <p:cNvSpPr/>
          <p:nvPr/>
        </p:nvSpPr>
        <p:spPr>
          <a:xfrm>
            <a:off x="666750" y="636270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drawio2pptx:shape:c513"/>
          <p:cNvSpPr/>
          <p:nvPr/>
        </p:nvSpPr>
        <p:spPr>
          <a:xfrm>
            <a:off x="933450" y="6286500"/>
            <a:ext cx="166878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剧本 → 首轮：有效的修法提议它的预防版本作为新 F 条目（source_rows 必须指向来源行）</a:t>
            </a:r>
          </a:p>
        </p:txBody>
      </p:sp>
      <p:sp>
        <p:nvSpPr>
          <p:cNvPr id="29" name="drawio2pptx:shape:c514"/>
          <p:cNvSpPr/>
          <p:nvPr/>
        </p:nvSpPr>
        <p:spPr>
          <a:xfrm>
            <a:off x="666750" y="702945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drawio2pptx:shape:c515"/>
          <p:cNvSpPr/>
          <p:nvPr/>
        </p:nvSpPr>
        <p:spPr>
          <a:xfrm>
            <a:off x="933450" y="6953250"/>
            <a:ext cx="166878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首轮 → 剧本：首轮选择的形状成为剧本行的前置条件（lacks_role、template）</a:t>
            </a:r>
          </a:p>
        </p:txBody>
      </p:sp>
      <p:sp>
        <p:nvSpPr>
          <p:cNvPr id="31" name="drawio2pptx:shape:c516"/>
          <p:cNvSpPr/>
          <p:nvPr/>
        </p:nvSpPr>
        <p:spPr>
          <a:xfrm>
            <a:off x="666750" y="769620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drawio2pptx:shape:c517"/>
          <p:cNvSpPr/>
          <p:nvPr/>
        </p:nvSpPr>
        <p:spPr>
          <a:xfrm>
            <a:off x="933450" y="7620000"/>
            <a:ext cx="166878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并非所有修法都有预防版本：主路径行为、性能、分散类只能事后修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519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520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521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522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部件三：出题者（慢循环）</a:t>
            </a:r>
          </a:p>
        </p:txBody>
      </p:sp>
      <p:sp>
        <p:nvSpPr>
          <p:cNvPr id="6" name="drawio2pptx:shape:c523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524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525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11 / 18</a:t>
            </a:r>
          </a:p>
        </p:txBody>
      </p:sp>
      <p:sp>
        <p:nvSpPr>
          <p:cNvPr id="9" name="drawio2pptx:shape:c526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COMPONENT 3 · TEST AUTHOR</a:t>
            </a:r>
          </a:p>
        </p:txBody>
      </p:sp>
      <p:sp>
        <p:nvSpPr>
          <p:cNvPr id="10" name="drawio2pptx:shape:c527"/>
          <p:cNvSpPr/>
          <p:nvPr/>
        </p:nvSpPr>
        <p:spPr>
          <a:xfrm>
            <a:off x="666750" y="1571625"/>
            <a:ext cx="7239000" cy="571500"/>
          </a:xfrm>
          <a:prstGeom prst="roundRect">
            <a:avLst/>
          </a:prstGeom>
          <a:solidFill>
            <a:srgbClr val="FFF4E8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B55F1F"/>
                </a:solidFill>
                <a:latin typeface="微软雅黑"/>
              </a:rPr>
              <a:t>状态：接口已实现（路由记录、账本重建接口），进化逻辑待实现</a:t>
            </a:r>
          </a:p>
        </p:txBody>
      </p:sp>
      <p:sp>
        <p:nvSpPr>
          <p:cNvPr id="11" name="drawio2pptx:shape:c528"/>
          <p:cNvSpPr/>
          <p:nvPr/>
        </p:nvSpPr>
        <p:spPr>
          <a:xfrm>
            <a:off x="666750" y="2447925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drawio2pptx:shape:c529"/>
          <p:cNvSpPr/>
          <p:nvPr/>
        </p:nvSpPr>
        <p:spPr>
          <a:xfrm>
            <a:off x="933450" y="2381250"/>
            <a:ext cx="69723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作用：定义“什么算对”，是其他部件的测量工具</a:t>
            </a:r>
          </a:p>
        </p:txBody>
      </p:sp>
      <p:sp>
        <p:nvSpPr>
          <p:cNvPr id="13" name="drawio2pptx:shape:c530"/>
          <p:cNvSpPr/>
          <p:nvPr/>
        </p:nvSpPr>
        <p:spPr>
          <a:xfrm>
            <a:off x="666750" y="308610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drawio2pptx:shape:c531"/>
          <p:cNvSpPr/>
          <p:nvPr/>
        </p:nvSpPr>
        <p:spPr>
          <a:xfrm>
            <a:off x="933450" y="3019425"/>
            <a:ext cx="697230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进化信号：训练题上，held-out 归因表里归给出题者的错误</a:t>
            </a:r>
          </a:p>
        </p:txBody>
      </p:sp>
      <p:sp>
        <p:nvSpPr>
          <p:cNvPr id="15" name="drawio2pptx:shape:c532"/>
          <p:cNvSpPr/>
          <p:nvPr/>
        </p:nvSpPr>
        <p:spPr>
          <a:xfrm>
            <a:off x="666750" y="409575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drawio2pptx:shape:c533"/>
          <p:cNvSpPr/>
          <p:nvPr/>
        </p:nvSpPr>
        <p:spPr>
          <a:xfrm>
            <a:off x="933450" y="4029075"/>
            <a:ext cx="697230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进化方式：新提示词生成新套件，用记忆回放给已存工作区重新打分；只看出错结果，不看 held-out 源码</a:t>
            </a:r>
          </a:p>
        </p:txBody>
      </p:sp>
      <p:sp>
        <p:nvSpPr>
          <p:cNvPr id="17" name="drawio2pptx:shape:c534"/>
          <p:cNvSpPr/>
          <p:nvPr/>
        </p:nvSpPr>
        <p:spPr>
          <a:xfrm>
            <a:off x="666750" y="510540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drawio2pptx:shape:c535"/>
          <p:cNvSpPr/>
          <p:nvPr/>
        </p:nvSpPr>
        <p:spPr>
          <a:xfrm>
            <a:off x="933450" y="5038725"/>
            <a:ext cx="697230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硬约束：每条断言必须引用文档原句，由机械检查保证，不交给进化</a:t>
            </a:r>
          </a:p>
        </p:txBody>
      </p:sp>
      <p:sp>
        <p:nvSpPr>
          <p:cNvPr id="19" name="drawio2pptx:shape:c536"/>
          <p:cNvSpPr/>
          <p:nvPr/>
        </p:nvSpPr>
        <p:spPr>
          <a:xfrm>
            <a:off x="11049000" y="1905000"/>
            <a:ext cx="62865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170C1"/>
                </a:solidFill>
                <a:latin typeface="微软雅黑"/>
              </a:rPr>
              <a:t>held-out 通过          held-out 失败</a:t>
            </a:r>
          </a:p>
        </p:txBody>
      </p:sp>
      <p:sp>
        <p:nvSpPr>
          <p:cNvPr id="20" name="drawio2pptx:shape:c537"/>
          <p:cNvSpPr/>
          <p:nvPr/>
        </p:nvSpPr>
        <p:spPr>
          <a:xfrm>
            <a:off x="8763000" y="2476500"/>
            <a:ext cx="2190750" cy="2381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0170C1"/>
                </a:solidFill>
                <a:latin typeface="微软雅黑"/>
              </a:rPr>
              <a:t>门通过</a:t>
            </a:r>
          </a:p>
        </p:txBody>
      </p:sp>
      <p:sp>
        <p:nvSpPr>
          <p:cNvPr id="21" name="drawio2pptx:shape:c538"/>
          <p:cNvSpPr/>
          <p:nvPr/>
        </p:nvSpPr>
        <p:spPr>
          <a:xfrm>
            <a:off x="8763000" y="5048250"/>
            <a:ext cx="2190750" cy="2381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0170C1"/>
                </a:solidFill>
                <a:latin typeface="微软雅黑"/>
              </a:rPr>
              <a:t>门失败</a:t>
            </a:r>
          </a:p>
        </p:txBody>
      </p:sp>
      <p:sp>
        <p:nvSpPr>
          <p:cNvPr id="22" name="drawio2pptx:shape:c539"/>
          <p:cNvSpPr/>
          <p:nvPr/>
        </p:nvSpPr>
        <p:spPr>
          <a:xfrm>
            <a:off x="11049000" y="2476500"/>
            <a:ext cx="3143250" cy="2381250"/>
          </a:xfrm>
          <a:prstGeom prst="roundRect">
            <a:avLst/>
          </a:prstGeom>
          <a:solidFill>
            <a:srgbClr val="EAF7EE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drawio2pptx:shape:c540"/>
          <p:cNvSpPr/>
          <p:nvPr/>
        </p:nvSpPr>
        <p:spPr>
          <a:xfrm>
            <a:off x="12334875" y="266700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4" name="drawio2pptx:shape-image:c54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4875" y="266700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25" name="drawio2pptx:shape:c541"/>
          <p:cNvSpPr/>
          <p:nvPr/>
        </p:nvSpPr>
        <p:spPr>
          <a:xfrm>
            <a:off x="11144250" y="3381375"/>
            <a:ext cx="295275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 u="none">
                <a:solidFill>
                  <a:srgbClr val="1A1A2E"/>
                </a:solidFill>
                <a:latin typeface="微软雅黑"/>
              </a:rPr>
              <a:t>一致：对</a:t>
            </a:r>
          </a:p>
        </p:txBody>
      </p:sp>
      <p:sp>
        <p:nvSpPr>
          <p:cNvPr id="26" name="drawio2pptx:shape:c542"/>
          <p:cNvSpPr/>
          <p:nvPr/>
        </p:nvSpPr>
        <p:spPr>
          <a:xfrm>
            <a:off x="14382750" y="2476500"/>
            <a:ext cx="3143250" cy="2381250"/>
          </a:xfrm>
          <a:prstGeom prst="roundRect">
            <a:avLst/>
          </a:prstGeom>
          <a:solidFill>
            <a:srgbClr val="FFF4E8"/>
          </a:solidFill>
          <a:ln w="381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drawio2pptx:shape:c543"/>
          <p:cNvSpPr/>
          <p:nvPr/>
        </p:nvSpPr>
        <p:spPr>
          <a:xfrm>
            <a:off x="15668625" y="266700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8" name="drawio2pptx:shape-image:c54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68625" y="266700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29" name="drawio2pptx:shape:c544"/>
          <p:cNvSpPr/>
          <p:nvPr/>
        </p:nvSpPr>
        <p:spPr>
          <a:xfrm>
            <a:off x="14478000" y="3381375"/>
            <a:ext cx="295275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 u="none">
                <a:solidFill>
                  <a:srgbClr val="1A1A2E"/>
                </a:solidFill>
                <a:latin typeface="微软雅黑"/>
              </a:rPr>
              <a:t>漏测
门过了，held-out 没过</a:t>
            </a:r>
          </a:p>
        </p:txBody>
      </p:sp>
      <p:sp>
        <p:nvSpPr>
          <p:cNvPr id="30" name="drawio2pptx:shape:c545"/>
          <p:cNvSpPr/>
          <p:nvPr/>
        </p:nvSpPr>
        <p:spPr>
          <a:xfrm>
            <a:off x="11049000" y="5048250"/>
            <a:ext cx="3143250" cy="2381250"/>
          </a:xfrm>
          <a:prstGeom prst="roundRect">
            <a:avLst/>
          </a:prstGeom>
          <a:solidFill>
            <a:srgbClr val="FFF4E8"/>
          </a:solidFill>
          <a:ln w="381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drawio2pptx:shape:c546"/>
          <p:cNvSpPr/>
          <p:nvPr/>
        </p:nvSpPr>
        <p:spPr>
          <a:xfrm>
            <a:off x="12334875" y="523875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2" name="drawio2pptx:shape-image:c54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4875" y="523875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33" name="drawio2pptx:shape:c547"/>
          <p:cNvSpPr/>
          <p:nvPr/>
        </p:nvSpPr>
        <p:spPr>
          <a:xfrm>
            <a:off x="11144250" y="5953125"/>
            <a:ext cx="295275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 u="none">
                <a:solidFill>
                  <a:srgbClr val="1A1A2E"/>
                </a:solidFill>
                <a:latin typeface="微软雅黑"/>
              </a:rPr>
              <a:t>误判
门挂了，held-out 其实过</a:t>
            </a:r>
          </a:p>
        </p:txBody>
      </p:sp>
      <p:sp>
        <p:nvSpPr>
          <p:cNvPr id="34" name="drawio2pptx:shape:c548"/>
          <p:cNvSpPr/>
          <p:nvPr/>
        </p:nvSpPr>
        <p:spPr>
          <a:xfrm>
            <a:off x="14382750" y="5048250"/>
            <a:ext cx="3143250" cy="238125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drawio2pptx:shape:c549"/>
          <p:cNvSpPr/>
          <p:nvPr/>
        </p:nvSpPr>
        <p:spPr>
          <a:xfrm>
            <a:off x="15668625" y="523875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drawio2pptx:shape-image:c54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68625" y="523875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37" name="drawio2pptx:shape:c550"/>
          <p:cNvSpPr/>
          <p:nvPr/>
        </p:nvSpPr>
        <p:spPr>
          <a:xfrm>
            <a:off x="14478000" y="5953125"/>
            <a:ext cx="2952750" cy="1428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25" b="0" i="0" u="none">
                <a:solidFill>
                  <a:srgbClr val="1A1A2E"/>
                </a:solidFill>
                <a:latin typeface="微软雅黑"/>
              </a:rPr>
              <a:t>一致：错
归给实现与剧本</a:t>
            </a:r>
          </a:p>
        </p:txBody>
      </p:sp>
      <p:sp>
        <p:nvSpPr>
          <p:cNvPr id="38" name="drawio2pptx:shape:c551"/>
          <p:cNvSpPr/>
          <p:nvPr/>
        </p:nvSpPr>
        <p:spPr>
          <a:xfrm>
            <a:off x="11049000" y="7810500"/>
            <a:ext cx="6477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两个归给出题者的格子，加上“用例冲突：两条用例无法同时满足”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55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554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555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556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部件四：规划器（外层循环）</a:t>
            </a:r>
          </a:p>
        </p:txBody>
      </p:sp>
      <p:sp>
        <p:nvSpPr>
          <p:cNvPr id="6" name="drawio2pptx:shape:c557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558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559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12 / 18</a:t>
            </a:r>
          </a:p>
        </p:txBody>
      </p:sp>
      <p:sp>
        <p:nvSpPr>
          <p:cNvPr id="9" name="drawio2pptx:shape:c560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COMPONENT 4 · PLANNER</a:t>
            </a:r>
          </a:p>
        </p:txBody>
      </p:sp>
      <p:sp>
        <p:nvSpPr>
          <p:cNvPr id="10" name="drawio2pptx:shape:c561"/>
          <p:cNvSpPr/>
          <p:nvPr/>
        </p:nvSpPr>
        <p:spPr>
          <a:xfrm>
            <a:off x="666750" y="1571625"/>
            <a:ext cx="7239000" cy="571500"/>
          </a:xfrm>
          <a:prstGeom prst="roundRect">
            <a:avLst/>
          </a:prstGeom>
          <a:solidFill>
            <a:srgbClr val="FFF4E8"/>
          </a:solidFill>
          <a:ln w="1905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B55F1F"/>
                </a:solidFill>
                <a:latin typeface="微软雅黑"/>
              </a:rPr>
              <a:t>状态：只实现了错误路由，进化逻辑待实现</a:t>
            </a:r>
          </a:p>
        </p:txBody>
      </p:sp>
      <p:sp>
        <p:nvSpPr>
          <p:cNvPr id="11" name="drawio2pptx:shape:c562"/>
          <p:cNvSpPr/>
          <p:nvPr/>
        </p:nvSpPr>
        <p:spPr>
          <a:xfrm>
            <a:off x="666750" y="2447925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drawio2pptx:shape:c563"/>
          <p:cNvSpPr/>
          <p:nvPr/>
        </p:nvSpPr>
        <p:spPr>
          <a:xfrm>
            <a:off x="933450" y="2381250"/>
            <a:ext cx="71628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作用：把设计文档拆成里程碑</a:t>
            </a:r>
          </a:p>
        </p:txBody>
      </p:sp>
      <p:sp>
        <p:nvSpPr>
          <p:cNvPr id="13" name="drawio2pptx:shape:c564"/>
          <p:cNvSpPr/>
          <p:nvPr/>
        </p:nvSpPr>
        <p:spPr>
          <a:xfrm>
            <a:off x="666750" y="308610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drawio2pptx:shape:c565"/>
          <p:cNvSpPr/>
          <p:nvPr/>
        </p:nvSpPr>
        <p:spPr>
          <a:xfrm>
            <a:off x="933450" y="3019425"/>
            <a:ext cx="716280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触发：惰性。只有“held-out 失败但没有里程碑负责”或“边界模糊”的错误累积到阈值才启动</a:t>
            </a:r>
          </a:p>
        </p:txBody>
      </p:sp>
      <p:sp>
        <p:nvSpPr>
          <p:cNvPr id="15" name="drawio2pptx:shape:c566"/>
          <p:cNvSpPr/>
          <p:nvPr/>
        </p:nvSpPr>
        <p:spPr>
          <a:xfrm>
            <a:off x="666750" y="409575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drawio2pptx:shape:c567"/>
          <p:cNvSpPr/>
          <p:nvPr/>
        </p:nvSpPr>
        <p:spPr>
          <a:xfrm>
            <a:off x="933450" y="4029075"/>
            <a:ext cx="71628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进化方式：先用规划审计做便宜筛选，再用整题重跑验证</a:t>
            </a:r>
          </a:p>
        </p:txBody>
      </p:sp>
      <p:sp>
        <p:nvSpPr>
          <p:cNvPr id="17" name="drawio2pptx:shape:c568"/>
          <p:cNvSpPr/>
          <p:nvPr/>
        </p:nvSpPr>
        <p:spPr>
          <a:xfrm>
            <a:off x="666750" y="4733925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drawio2pptx:shape:c569"/>
          <p:cNvSpPr/>
          <p:nvPr/>
        </p:nvSpPr>
        <p:spPr>
          <a:xfrm>
            <a:off x="933450" y="4667250"/>
            <a:ext cx="716280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代价：规划一变，错题库的检查点失效，需要重建；按里程碑特征记的账本经验仍可用</a:t>
            </a:r>
          </a:p>
        </p:txBody>
      </p:sp>
      <p:sp>
        <p:nvSpPr>
          <p:cNvPr id="19" name="drawio2pptx:shape:c570"/>
          <p:cNvSpPr/>
          <p:nvPr/>
        </p:nvSpPr>
        <p:spPr>
          <a:xfrm>
            <a:off x="8572500" y="2857500"/>
            <a:ext cx="1905000" cy="1333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drawio2pptx:shape:c571"/>
          <p:cNvSpPr/>
          <p:nvPr/>
        </p:nvSpPr>
        <p:spPr>
          <a:xfrm>
            <a:off x="9239250" y="299085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drawio2pptx:shape-image:c57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0" y="299085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22" name="drawio2pptx:shape:c572"/>
          <p:cNvSpPr/>
          <p:nvPr/>
        </p:nvSpPr>
        <p:spPr>
          <a:xfrm>
            <a:off x="8572500" y="3619500"/>
            <a:ext cx="1905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基础契约</a:t>
            </a:r>
          </a:p>
        </p:txBody>
      </p:sp>
      <p:sp>
        <p:nvSpPr>
          <p:cNvPr id="23" name="drawio2pptx:shape:c573"/>
          <p:cNvSpPr/>
          <p:nvPr/>
        </p:nvSpPr>
        <p:spPr>
          <a:xfrm>
            <a:off x="10477500" y="3505200"/>
            <a:ext cx="381000" cy="571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drawio2pptx:shape:c574"/>
          <p:cNvSpPr/>
          <p:nvPr/>
        </p:nvSpPr>
        <p:spPr>
          <a:xfrm>
            <a:off x="10858500" y="2857500"/>
            <a:ext cx="1905000" cy="1333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drawio2pptx:shape:c575"/>
          <p:cNvSpPr/>
          <p:nvPr/>
        </p:nvSpPr>
        <p:spPr>
          <a:xfrm>
            <a:off x="11525250" y="299085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6" name="drawio2pptx:shape-image:c57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0" y="299085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27" name="drawio2pptx:shape:c576"/>
          <p:cNvSpPr/>
          <p:nvPr/>
        </p:nvSpPr>
        <p:spPr>
          <a:xfrm>
            <a:off x="10858500" y="3619500"/>
            <a:ext cx="1905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核心数据结构</a:t>
            </a:r>
          </a:p>
        </p:txBody>
      </p:sp>
      <p:sp>
        <p:nvSpPr>
          <p:cNvPr id="28" name="drawio2pptx:shape:c577"/>
          <p:cNvSpPr/>
          <p:nvPr/>
        </p:nvSpPr>
        <p:spPr>
          <a:xfrm>
            <a:off x="12763500" y="3505200"/>
            <a:ext cx="381000" cy="571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drawio2pptx:shape:c578"/>
          <p:cNvSpPr/>
          <p:nvPr/>
        </p:nvSpPr>
        <p:spPr>
          <a:xfrm>
            <a:off x="13144500" y="2857500"/>
            <a:ext cx="1905000" cy="1333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drawio2pptx:shape:c579"/>
          <p:cNvSpPr/>
          <p:nvPr/>
        </p:nvSpPr>
        <p:spPr>
          <a:xfrm>
            <a:off x="13811250" y="299085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drawio2pptx:shape-image:c57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250" y="299085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32" name="drawio2pptx:shape:c580"/>
          <p:cNvSpPr/>
          <p:nvPr/>
        </p:nvSpPr>
        <p:spPr>
          <a:xfrm>
            <a:off x="13144500" y="3619500"/>
            <a:ext cx="1905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文本格式</a:t>
            </a:r>
          </a:p>
        </p:txBody>
      </p:sp>
      <p:sp>
        <p:nvSpPr>
          <p:cNvPr id="33" name="drawio2pptx:shape:c581"/>
          <p:cNvSpPr/>
          <p:nvPr/>
        </p:nvSpPr>
        <p:spPr>
          <a:xfrm>
            <a:off x="15049500" y="3505200"/>
            <a:ext cx="381000" cy="571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drawio2pptx:shape:c582"/>
          <p:cNvSpPr/>
          <p:nvPr/>
        </p:nvSpPr>
        <p:spPr>
          <a:xfrm>
            <a:off x="15430500" y="2857500"/>
            <a:ext cx="1905000" cy="1333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drawio2pptx:shape:c583"/>
          <p:cNvSpPr/>
          <p:nvPr/>
        </p:nvSpPr>
        <p:spPr>
          <a:xfrm>
            <a:off x="16097250" y="299085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6" name="drawio2pptx:shape-image:c58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250" y="299085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37" name="drawio2pptx:shape:c584"/>
          <p:cNvSpPr/>
          <p:nvPr/>
        </p:nvSpPr>
        <p:spPr>
          <a:xfrm>
            <a:off x="15430500" y="3619500"/>
            <a:ext cx="1905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公共 API 集成</a:t>
            </a:r>
          </a:p>
        </p:txBody>
      </p:sp>
      <p:sp>
        <p:nvSpPr>
          <p:cNvPr id="38" name="drawio2pptx:shape:c585"/>
          <p:cNvSpPr/>
          <p:nvPr/>
        </p:nvSpPr>
        <p:spPr>
          <a:xfrm>
            <a:off x="12668250" y="4286250"/>
            <a:ext cx="952500" cy="952500"/>
          </a:xfrm>
          <a:prstGeom prst="ellipse">
            <a:avLst/>
          </a:prstGeom>
          <a:solidFill>
            <a:srgbClr val="FFF4E8"/>
          </a:solidFill>
          <a:ln w="38100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drawio2pptx:shape:c586"/>
          <p:cNvSpPr/>
          <p:nvPr/>
        </p:nvSpPr>
        <p:spPr>
          <a:xfrm>
            <a:off x="12858750" y="447675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0" name="drawio2pptx:shape-image:c58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8750" y="447675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41" name="drawio2pptx:shape:c587"/>
          <p:cNvSpPr/>
          <p:nvPr/>
        </p:nvSpPr>
        <p:spPr>
          <a:xfrm>
            <a:off x="10477500" y="5334000"/>
            <a:ext cx="5334000" cy="952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B55F1F"/>
                </a:solidFill>
                <a:latin typeface="微软雅黑"/>
              </a:rPr>
              <a:t>无人负责的失败
held-out 失败，但两个里程碑都不认领：边界落在缝隙里</a:t>
            </a:r>
          </a:p>
        </p:txBody>
      </p:sp>
      <p:sp>
        <p:nvSpPr>
          <p:cNvPr id="42" name="drawio2pptx:shape:c588"/>
          <p:cNvSpPr/>
          <p:nvPr/>
        </p:nvSpPr>
        <p:spPr>
          <a:xfrm>
            <a:off x="12192000" y="6667500"/>
            <a:ext cx="6096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3" name="drawio2pptx:shape-image:c58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2000" y="6667500"/>
            <a:ext cx="609600" cy="609600"/>
          </a:xfrm>
          <a:prstGeom prst="rect">
            <a:avLst/>
          </a:prstGeom>
          <a:ln>
            <a:noFill/>
          </a:ln>
        </p:spPr>
      </p:pic>
      <p:sp>
        <p:nvSpPr>
          <p:cNvPr id="44" name="drawio2pptx:shape:c589"/>
          <p:cNvSpPr/>
          <p:nvPr/>
        </p:nvSpPr>
        <p:spPr>
          <a:xfrm>
            <a:off x="12954000" y="6667500"/>
            <a:ext cx="47625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累积到阈值 → 规划审计 → 整题重跑验证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59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592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593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594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改动如何被提出和接受</a:t>
            </a:r>
          </a:p>
        </p:txBody>
      </p:sp>
      <p:sp>
        <p:nvSpPr>
          <p:cNvPr id="6" name="drawio2pptx:shape:c595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596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597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13 / 18</a:t>
            </a:r>
          </a:p>
        </p:txBody>
      </p:sp>
      <p:sp>
        <p:nvSpPr>
          <p:cNvPr id="9" name="drawio2pptx:shape:c598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PROPOSE AND ACCEPT</a:t>
            </a:r>
          </a:p>
        </p:txBody>
      </p:sp>
      <p:sp>
        <p:nvSpPr>
          <p:cNvPr id="10" name="drawio2pptx:shape:c599"/>
          <p:cNvSpPr/>
          <p:nvPr/>
        </p:nvSpPr>
        <p:spPr>
          <a:xfrm>
            <a:off x="666750" y="1571625"/>
            <a:ext cx="8001000" cy="51435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微软雅黑"/>
              </a:rPr>
              <a:t>提出：进化 agent</a:t>
            </a:r>
          </a:p>
        </p:txBody>
      </p:sp>
      <p:sp>
        <p:nvSpPr>
          <p:cNvPr id="11" name="drawio2pptx:shape:c600"/>
          <p:cNvSpPr/>
          <p:nvPr/>
        </p:nvSpPr>
        <p:spPr>
          <a:xfrm>
            <a:off x="7239000" y="1619250"/>
            <a:ext cx="4191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drawio2pptx:shape-image:c60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0" y="1619250"/>
            <a:ext cx="419100" cy="419100"/>
          </a:xfrm>
          <a:prstGeom prst="rect">
            <a:avLst/>
          </a:prstGeom>
          <a:ln>
            <a:noFill/>
          </a:ln>
        </p:spPr>
      </p:pic>
      <p:sp>
        <p:nvSpPr>
          <p:cNvPr id="13" name="drawio2pptx:shape:c601"/>
          <p:cNvSpPr/>
          <p:nvPr/>
        </p:nvSpPr>
        <p:spPr>
          <a:xfrm>
            <a:off x="666750" y="230505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drawio2pptx:shape:c602"/>
          <p:cNvSpPr/>
          <p:nvPr/>
        </p:nvSpPr>
        <p:spPr>
          <a:xfrm>
            <a:off x="933450" y="2238375"/>
            <a:ext cx="77343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输入：错误类统计、未解决池、跨表的提升线索</a:t>
            </a:r>
          </a:p>
        </p:txBody>
      </p:sp>
      <p:sp>
        <p:nvSpPr>
          <p:cNvPr id="15" name="drawio2pptx:shape:c603"/>
          <p:cNvSpPr/>
          <p:nvPr/>
        </p:nvSpPr>
        <p:spPr>
          <a:xfrm>
            <a:off x="666750" y="2943225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drawio2pptx:shape:c604"/>
          <p:cNvSpPr/>
          <p:nvPr/>
        </p:nvSpPr>
        <p:spPr>
          <a:xfrm>
            <a:off x="933450" y="2876550"/>
            <a:ext cx="77343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输出：新剧本行或新 F 条目（YAML）</a:t>
            </a:r>
          </a:p>
        </p:txBody>
      </p:sp>
      <p:sp>
        <p:nvSpPr>
          <p:cNvPr id="17" name="drawio2pptx:shape:c605"/>
          <p:cNvSpPr/>
          <p:nvPr/>
        </p:nvSpPr>
        <p:spPr>
          <a:xfrm>
            <a:off x="666750" y="358140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drawio2pptx:shape:c606"/>
          <p:cNvSpPr/>
          <p:nvPr/>
        </p:nvSpPr>
        <p:spPr>
          <a:xfrm>
            <a:off x="933450" y="3514725"/>
            <a:ext cx="773430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限制：只能用已有角色和模板；不能含训练题标识符；每轮最多三条</a:t>
            </a:r>
          </a:p>
        </p:txBody>
      </p:sp>
      <p:sp>
        <p:nvSpPr>
          <p:cNvPr id="19" name="drawio2pptx:shape:c607"/>
          <p:cNvSpPr/>
          <p:nvPr/>
        </p:nvSpPr>
        <p:spPr>
          <a:xfrm>
            <a:off x="666750" y="4953000"/>
            <a:ext cx="8001000" cy="51435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微软雅黑"/>
              </a:rPr>
              <a:t>接受：统计规则，不靠 LLM 判断</a:t>
            </a:r>
          </a:p>
        </p:txBody>
      </p:sp>
      <p:sp>
        <p:nvSpPr>
          <p:cNvPr id="20" name="drawio2pptx:shape:c608"/>
          <p:cNvSpPr/>
          <p:nvPr/>
        </p:nvSpPr>
        <p:spPr>
          <a:xfrm>
            <a:off x="7239000" y="5000625"/>
            <a:ext cx="4191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drawio2pptx:shape-image:c60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000" y="5000625"/>
            <a:ext cx="419100" cy="419100"/>
          </a:xfrm>
          <a:prstGeom prst="rect">
            <a:avLst/>
          </a:prstGeom>
          <a:ln>
            <a:noFill/>
          </a:ln>
        </p:spPr>
      </p:pic>
      <p:sp>
        <p:nvSpPr>
          <p:cNvPr id="22" name="drawio2pptx:shape:c609"/>
          <p:cNvSpPr/>
          <p:nvPr/>
        </p:nvSpPr>
        <p:spPr>
          <a:xfrm>
            <a:off x="666750" y="5686425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drawio2pptx:shape:c610"/>
          <p:cNvSpPr/>
          <p:nvPr/>
        </p:nvSpPr>
        <p:spPr>
          <a:xfrm>
            <a:off x="933450" y="5619750"/>
            <a:ext cx="773430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试用至少 m 次，相对 R0 净修复为正、回归不更多，才升为启用</a:t>
            </a:r>
          </a:p>
        </p:txBody>
      </p:sp>
      <p:sp>
        <p:nvSpPr>
          <p:cNvPr id="24" name="drawio2pptx:shape:c611"/>
          <p:cNvSpPr/>
          <p:nvPr/>
        </p:nvSpPr>
        <p:spPr>
          <a:xfrm>
            <a:off x="666750" y="6696075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drawio2pptx:shape:c612"/>
          <p:cNvSpPr/>
          <p:nvPr/>
        </p:nvSpPr>
        <p:spPr>
          <a:xfrm>
            <a:off x="933450" y="6629400"/>
            <a:ext cx="77343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两次试用都失败，淘汰；启用后最近 2m 次为负，降回候补</a:t>
            </a:r>
          </a:p>
        </p:txBody>
      </p:sp>
      <p:sp>
        <p:nvSpPr>
          <p:cNvPr id="26" name="drawio2pptx:shape:c613"/>
          <p:cNvSpPr/>
          <p:nvPr/>
        </p:nvSpPr>
        <p:spPr>
          <a:xfrm>
            <a:off x="666750" y="733425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drawio2pptx:shape:c614"/>
          <p:cNvSpPr/>
          <p:nvPr/>
        </p:nvSpPr>
        <p:spPr>
          <a:xfrm>
            <a:off x="933450" y="7267575"/>
            <a:ext cx="77343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新升启用的行还要过 held-out 绊线</a:t>
            </a:r>
          </a:p>
        </p:txBody>
      </p:sp>
      <p:sp>
        <p:nvSpPr>
          <p:cNvPr id="28" name="drawio2pptx:shape:c615"/>
          <p:cNvSpPr/>
          <p:nvPr/>
        </p:nvSpPr>
        <p:spPr>
          <a:xfrm>
            <a:off x="9334500" y="3619500"/>
            <a:ext cx="1714500" cy="17145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drawio2pptx:shape:c616"/>
          <p:cNvSpPr/>
          <p:nvPr/>
        </p:nvSpPr>
        <p:spPr>
          <a:xfrm>
            <a:off x="9334500" y="3619500"/>
            <a:ext cx="1714500" cy="1714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u="none">
                <a:solidFill>
                  <a:srgbClr val="9AA5B1"/>
                </a:solidFill>
                <a:latin typeface="微软雅黑"/>
              </a:rPr>
              <a:t>候补</a:t>
            </a:r>
          </a:p>
        </p:txBody>
      </p:sp>
      <p:sp>
        <p:nvSpPr>
          <p:cNvPr id="30" name="drawio2pptx:shape:c617"/>
          <p:cNvSpPr/>
          <p:nvPr/>
        </p:nvSpPr>
        <p:spPr>
          <a:xfrm>
            <a:off x="12477750" y="3619500"/>
            <a:ext cx="1714500" cy="17145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drawio2pptx:shape:c618"/>
          <p:cNvSpPr/>
          <p:nvPr/>
        </p:nvSpPr>
        <p:spPr>
          <a:xfrm>
            <a:off x="12477750" y="3619500"/>
            <a:ext cx="1714500" cy="1714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u="none">
                <a:solidFill>
                  <a:srgbClr val="F28C28"/>
                </a:solidFill>
                <a:latin typeface="微软雅黑"/>
              </a:rPr>
              <a:t>试用</a:t>
            </a:r>
          </a:p>
        </p:txBody>
      </p:sp>
      <p:sp>
        <p:nvSpPr>
          <p:cNvPr id="32" name="drawio2pptx:shape:c619"/>
          <p:cNvSpPr/>
          <p:nvPr/>
        </p:nvSpPr>
        <p:spPr>
          <a:xfrm>
            <a:off x="15621000" y="3619500"/>
            <a:ext cx="1714500" cy="1714500"/>
          </a:xfrm>
          <a:prstGeom prst="ellipse">
            <a:avLst/>
          </a:prstGeom>
          <a:solidFill>
            <a:srgbClr val="FFFFFF"/>
          </a:solidFill>
          <a:ln w="4762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drawio2pptx:shape:c620"/>
          <p:cNvSpPr/>
          <p:nvPr/>
        </p:nvSpPr>
        <p:spPr>
          <a:xfrm>
            <a:off x="15621000" y="3619500"/>
            <a:ext cx="1714500" cy="1714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50" b="1" i="0" u="none">
                <a:solidFill>
                  <a:srgbClr val="2E8B57"/>
                </a:solidFill>
                <a:latin typeface="微软雅黑"/>
              </a:rPr>
              <a:t>启用</a:t>
            </a:r>
          </a:p>
        </p:txBody>
      </p:sp>
      <p:sp>
        <p:nvSpPr>
          <p:cNvPr id="34" name="drawio2pptx:shape:c621"/>
          <p:cNvSpPr/>
          <p:nvPr/>
        </p:nvSpPr>
        <p:spPr>
          <a:xfrm>
            <a:off x="12477750" y="7667625"/>
            <a:ext cx="1714500" cy="1143000"/>
          </a:xfrm>
          <a:prstGeom prst="ellipse">
            <a:avLst/>
          </a:prstGeom>
          <a:solidFill>
            <a:srgbClr val="F1F3F6"/>
          </a:solidFill>
          <a:ln w="285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drawio2pptx:shape:c622"/>
          <p:cNvSpPr/>
          <p:nvPr/>
        </p:nvSpPr>
        <p:spPr>
          <a:xfrm>
            <a:off x="12477750" y="7667625"/>
            <a:ext cx="17145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4A5568"/>
                </a:solidFill>
                <a:latin typeface="微软雅黑"/>
              </a:rPr>
              <a:t>淘汰</a:t>
            </a:r>
          </a:p>
        </p:txBody>
      </p:sp>
      <p:sp>
        <p:nvSpPr>
          <p:cNvPr id="36" name="drawio2pptx:shape:c623"/>
          <p:cNvSpPr/>
          <p:nvPr/>
        </p:nvSpPr>
        <p:spPr>
          <a:xfrm>
            <a:off x="11144250" y="4143375"/>
            <a:ext cx="12382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0170C1"/>
                </a:solidFill>
                <a:latin typeface="Arial"/>
              </a:rPr>
              <a:t>→</a:t>
            </a:r>
          </a:p>
        </p:txBody>
      </p:sp>
      <p:sp>
        <p:nvSpPr>
          <p:cNvPr id="37" name="drawio2pptx:shape:c624"/>
          <p:cNvSpPr/>
          <p:nvPr/>
        </p:nvSpPr>
        <p:spPr>
          <a:xfrm>
            <a:off x="10953750" y="3238500"/>
            <a:ext cx="161925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0170C1"/>
                </a:solidFill>
                <a:latin typeface="微软雅黑"/>
              </a:rPr>
              <a:t>选入试用位</a:t>
            </a:r>
          </a:p>
        </p:txBody>
      </p:sp>
      <p:sp>
        <p:nvSpPr>
          <p:cNvPr id="38" name="drawio2pptx:shape:c625"/>
          <p:cNvSpPr/>
          <p:nvPr/>
        </p:nvSpPr>
        <p:spPr>
          <a:xfrm>
            <a:off x="14287500" y="4143375"/>
            <a:ext cx="12382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50" b="1" i="0" u="none">
                <a:solidFill>
                  <a:srgbClr val="2E8B57"/>
                </a:solidFill>
                <a:latin typeface="Arial"/>
              </a:rPr>
              <a:t>→</a:t>
            </a:r>
          </a:p>
        </p:txBody>
      </p:sp>
      <p:sp>
        <p:nvSpPr>
          <p:cNvPr id="39" name="drawio2pptx:shape:c626"/>
          <p:cNvSpPr/>
          <p:nvPr/>
        </p:nvSpPr>
        <p:spPr>
          <a:xfrm>
            <a:off x="14001750" y="3238500"/>
            <a:ext cx="19050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u="none">
                <a:solidFill>
                  <a:srgbClr val="2E8B57"/>
                </a:solidFill>
                <a:latin typeface="微软雅黑"/>
              </a:rPr>
              <a:t>≥ m 次配对
分数 &gt; 0</a:t>
            </a:r>
          </a:p>
        </p:txBody>
      </p:sp>
      <p:sp>
        <p:nvSpPr>
          <p:cNvPr id="40" name="drawio2pptx:shape:c627"/>
          <p:cNvSpPr/>
          <p:nvPr/>
        </p:nvSpPr>
        <p:spPr>
          <a:xfrm>
            <a:off x="10191750" y="5715000"/>
            <a:ext cx="4000500" cy="2857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drawio2pptx:shape:c628"/>
          <p:cNvSpPr/>
          <p:nvPr/>
        </p:nvSpPr>
        <p:spPr>
          <a:xfrm>
            <a:off x="9906000" y="542925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F28C28"/>
                </a:solidFill>
                <a:latin typeface="Arial"/>
              </a:rPr>
              <a:t>◀</a:t>
            </a:r>
          </a:p>
        </p:txBody>
      </p:sp>
      <p:sp>
        <p:nvSpPr>
          <p:cNvPr id="42" name="drawio2pptx:shape:c629"/>
          <p:cNvSpPr/>
          <p:nvPr/>
        </p:nvSpPr>
        <p:spPr>
          <a:xfrm>
            <a:off x="10382250" y="5791200"/>
            <a:ext cx="38100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F28C28"/>
                </a:solidFill>
                <a:latin typeface="微软雅黑"/>
              </a:rPr>
              <a:t>第一次试用失败：降回候补</a:t>
            </a:r>
          </a:p>
        </p:txBody>
      </p:sp>
      <p:sp>
        <p:nvSpPr>
          <p:cNvPr id="43" name="drawio2pptx:shape:c630"/>
          <p:cNvSpPr/>
          <p:nvPr/>
        </p:nvSpPr>
        <p:spPr>
          <a:xfrm>
            <a:off x="10191750" y="6381750"/>
            <a:ext cx="7143750" cy="28575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drawio2pptx:shape:c631"/>
          <p:cNvSpPr/>
          <p:nvPr/>
        </p:nvSpPr>
        <p:spPr>
          <a:xfrm>
            <a:off x="9906000" y="609600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C0392B"/>
                </a:solidFill>
                <a:latin typeface="Arial"/>
              </a:rPr>
              <a:t>◀</a:t>
            </a:r>
          </a:p>
        </p:txBody>
      </p:sp>
      <p:sp>
        <p:nvSpPr>
          <p:cNvPr id="45" name="drawio2pptx:shape:c632"/>
          <p:cNvSpPr/>
          <p:nvPr/>
        </p:nvSpPr>
        <p:spPr>
          <a:xfrm>
            <a:off x="10382250" y="6457950"/>
            <a:ext cx="70485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C0392B"/>
                </a:solidFill>
                <a:latin typeface="微软雅黑"/>
              </a:rPr>
              <a:t>启用后最近 2m 次配对分数 &lt; 0，或 held-out 绊线触发：降回候补</a:t>
            </a:r>
          </a:p>
        </p:txBody>
      </p:sp>
      <p:sp>
        <p:nvSpPr>
          <p:cNvPr id="46" name="drawio2pptx:shape:c633"/>
          <p:cNvSpPr/>
          <p:nvPr/>
        </p:nvSpPr>
        <p:spPr>
          <a:xfrm>
            <a:off x="13001625" y="7000875"/>
            <a:ext cx="66675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300" b="1" i="0" u="none">
                <a:solidFill>
                  <a:srgbClr val="9AA5B1"/>
                </a:solidFill>
                <a:latin typeface="Arial"/>
              </a:rPr>
              <a:t>↓</a:t>
            </a:r>
          </a:p>
        </p:txBody>
      </p:sp>
      <p:sp>
        <p:nvSpPr>
          <p:cNvPr id="47" name="drawio2pptx:shape:c634"/>
          <p:cNvSpPr/>
          <p:nvPr/>
        </p:nvSpPr>
        <p:spPr>
          <a:xfrm>
            <a:off x="13811250" y="7000875"/>
            <a:ext cx="2857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第二次试用失败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63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637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638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639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数据驱动（一）：账本与配对对照</a:t>
            </a:r>
          </a:p>
        </p:txBody>
      </p:sp>
      <p:sp>
        <p:nvSpPr>
          <p:cNvPr id="6" name="drawio2pptx:shape:c640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641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642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14 / 18</a:t>
            </a:r>
          </a:p>
        </p:txBody>
      </p:sp>
      <p:sp>
        <p:nvSpPr>
          <p:cNvPr id="9" name="drawio2pptx:shape:c643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LEDGER AND PAIRED CONTROL</a:t>
            </a:r>
          </a:p>
        </p:txBody>
      </p:sp>
      <p:sp>
        <p:nvSpPr>
          <p:cNvPr id="10" name="drawio2pptx:shape:c644"/>
          <p:cNvSpPr/>
          <p:nvPr/>
        </p:nvSpPr>
        <p:spPr>
          <a:xfrm>
            <a:off x="666750" y="163830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drawio2pptx:shape:c645"/>
          <p:cNvSpPr/>
          <p:nvPr/>
        </p:nvSpPr>
        <p:spPr>
          <a:xfrm>
            <a:off x="933450" y="1571625"/>
            <a:ext cx="754380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每个候选一条记录：错误类、所用的行、逐用例的修复与回归、相对 R0 的增量、成本、工作区引用</a:t>
            </a:r>
          </a:p>
        </p:txBody>
      </p:sp>
      <p:sp>
        <p:nvSpPr>
          <p:cNvPr id="12" name="drawio2pptx:shape:c646"/>
          <p:cNvSpPr/>
          <p:nvPr/>
        </p:nvSpPr>
        <p:spPr>
          <a:xfrm>
            <a:off x="666750" y="264795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drawio2pptx:shape:c647"/>
          <p:cNvSpPr/>
          <p:nvPr/>
        </p:nvSpPr>
        <p:spPr>
          <a:xfrm>
            <a:off x="933450" y="2581275"/>
            <a:ext cx="75438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两个对照组：探针（什么都不做）、R0（标准做法）</a:t>
            </a:r>
          </a:p>
        </p:txBody>
      </p:sp>
      <p:sp>
        <p:nvSpPr>
          <p:cNvPr id="14" name="drawio2pptx:shape:c648"/>
          <p:cNvSpPr/>
          <p:nvPr/>
        </p:nvSpPr>
        <p:spPr>
          <a:xfrm>
            <a:off x="666750" y="3286125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drawio2pptx:shape:c649"/>
          <p:cNvSpPr/>
          <p:nvPr/>
        </p:nvSpPr>
        <p:spPr>
          <a:xfrm>
            <a:off x="933450" y="3219450"/>
            <a:ext cx="75438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衡量：逐用例的稳定修复和稳定回归，而不是总分</a:t>
            </a:r>
          </a:p>
        </p:txBody>
      </p:sp>
      <p:sp>
        <p:nvSpPr>
          <p:cNvPr id="16" name="drawio2pptx:shape:c650"/>
          <p:cNvSpPr/>
          <p:nvPr/>
        </p:nvSpPr>
        <p:spPr>
          <a:xfrm>
            <a:off x="666750" y="392430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drawio2pptx:shape:c651"/>
          <p:cNvSpPr/>
          <p:nvPr/>
        </p:nvSpPr>
        <p:spPr>
          <a:xfrm>
            <a:off x="933450" y="3857625"/>
            <a:ext cx="7543800" cy="876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排序分数向 R0 收缩：n/(n+n0)·mean(Δ)，防止新行靠一两次运气排到前面</a:t>
            </a:r>
          </a:p>
        </p:txBody>
      </p:sp>
      <p:sp>
        <p:nvSpPr>
          <p:cNvPr id="18" name="drawio2pptx:shape:c652"/>
          <p:cNvSpPr/>
          <p:nvPr/>
        </p:nvSpPr>
        <p:spPr>
          <a:xfrm>
            <a:off x="9144000" y="1571625"/>
            <a:ext cx="8382000" cy="51435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微软雅黑"/>
              </a:rPr>
              <a:t>一条账本记录</a:t>
            </a:r>
          </a:p>
        </p:txBody>
      </p:sp>
      <p:sp>
        <p:nvSpPr>
          <p:cNvPr id="19" name="drawio2pptx:shape:c653"/>
          <p:cNvSpPr/>
          <p:nvPr/>
        </p:nvSpPr>
        <p:spPr>
          <a:xfrm>
            <a:off x="16954500" y="1619250"/>
            <a:ext cx="419100" cy="4191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drawio2pptx:shape-image:c65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4500" y="1619250"/>
            <a:ext cx="419100" cy="419100"/>
          </a:xfrm>
          <a:prstGeom prst="rect">
            <a:avLst/>
          </a:prstGeom>
          <a:ln>
            <a:noFill/>
          </a:ln>
        </p:spPr>
      </p:pic>
      <p:sp>
        <p:nvSpPr>
          <p:cNvPr id="21" name="drawio2pptx:shape:c654"/>
          <p:cNvSpPr/>
          <p:nvPr/>
        </p:nvSpPr>
        <p:spPr>
          <a:xfrm>
            <a:off x="9144000" y="2200275"/>
            <a:ext cx="8382000" cy="4381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drawio2pptx:shape:c655"/>
          <p:cNvSpPr/>
          <p:nvPr/>
        </p:nvSpPr>
        <p:spPr>
          <a:xfrm>
            <a:off x="9277350" y="2200275"/>
            <a:ext cx="2857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0170C1"/>
                </a:solidFill>
                <a:latin typeface="Consolas"/>
              </a:rPr>
              <a:t>record_id</a:t>
            </a:r>
          </a:p>
        </p:txBody>
      </p:sp>
      <p:sp>
        <p:nvSpPr>
          <p:cNvPr id="23" name="drawio2pptx:shape:c656"/>
          <p:cNvSpPr/>
          <p:nvPr/>
        </p:nvSpPr>
        <p:spPr>
          <a:xfrm>
            <a:off x="12287250" y="2200275"/>
            <a:ext cx="5143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1A1A2E"/>
                </a:solidFill>
                <a:latin typeface="Consolas"/>
              </a:rPr>
              <a:t>tinydb:storage:E3-T1</a:t>
            </a:r>
          </a:p>
        </p:txBody>
      </p:sp>
      <p:sp>
        <p:nvSpPr>
          <p:cNvPr id="24" name="drawio2pptx:shape:c657"/>
          <p:cNvSpPr/>
          <p:nvPr/>
        </p:nvSpPr>
        <p:spPr>
          <a:xfrm>
            <a:off x="9144000" y="2676525"/>
            <a:ext cx="8382000" cy="4381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drawio2pptx:shape:c658"/>
          <p:cNvSpPr/>
          <p:nvPr/>
        </p:nvSpPr>
        <p:spPr>
          <a:xfrm>
            <a:off x="9277350" y="2676525"/>
            <a:ext cx="2857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0170C1"/>
                </a:solidFill>
                <a:latin typeface="Consolas"/>
              </a:rPr>
              <a:t>error_classes</a:t>
            </a:r>
          </a:p>
        </p:txBody>
      </p:sp>
      <p:sp>
        <p:nvSpPr>
          <p:cNvPr id="26" name="drawio2pptx:shape:c659"/>
          <p:cNvSpPr/>
          <p:nvPr/>
        </p:nvSpPr>
        <p:spPr>
          <a:xfrm>
            <a:off x="12287250" y="2676525"/>
            <a:ext cx="5143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1A1A2E"/>
                </a:solidFill>
                <a:latin typeface="Consolas"/>
              </a:rPr>
              <a:t>[E3]</a:t>
            </a:r>
          </a:p>
        </p:txBody>
      </p:sp>
      <p:sp>
        <p:nvSpPr>
          <p:cNvPr id="27" name="drawio2pptx:shape:c660"/>
          <p:cNvSpPr/>
          <p:nvPr/>
        </p:nvSpPr>
        <p:spPr>
          <a:xfrm>
            <a:off x="9144000" y="3152775"/>
            <a:ext cx="8382000" cy="4381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drawio2pptx:shape:c661"/>
          <p:cNvSpPr/>
          <p:nvPr/>
        </p:nvSpPr>
        <p:spPr>
          <a:xfrm>
            <a:off x="9277350" y="3152775"/>
            <a:ext cx="2857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0170C1"/>
                </a:solidFill>
                <a:latin typeface="Consolas"/>
              </a:rPr>
              <a:t>row_id / state</a:t>
            </a:r>
          </a:p>
        </p:txBody>
      </p:sp>
      <p:sp>
        <p:nvSpPr>
          <p:cNvPr id="29" name="drawio2pptx:shape:c662"/>
          <p:cNvSpPr/>
          <p:nvPr/>
        </p:nvSpPr>
        <p:spPr>
          <a:xfrm>
            <a:off x="12287250" y="3152775"/>
            <a:ext cx="5143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1A1A2E"/>
                </a:solidFill>
                <a:latin typeface="Consolas"/>
              </a:rPr>
              <a:t>E3-T1 / trial</a:t>
            </a:r>
          </a:p>
        </p:txBody>
      </p:sp>
      <p:sp>
        <p:nvSpPr>
          <p:cNvPr id="30" name="drawio2pptx:shape:c663"/>
          <p:cNvSpPr/>
          <p:nvPr/>
        </p:nvSpPr>
        <p:spPr>
          <a:xfrm>
            <a:off x="9144000" y="3629025"/>
            <a:ext cx="8382000" cy="4381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drawio2pptx:shape:c664"/>
          <p:cNvSpPr/>
          <p:nvPr/>
        </p:nvSpPr>
        <p:spPr>
          <a:xfrm>
            <a:off x="9277350" y="3629025"/>
            <a:ext cx="2857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0170C1"/>
                </a:solidFill>
                <a:latin typeface="Consolas"/>
              </a:rPr>
              <a:t>fixed / regressed</a:t>
            </a:r>
          </a:p>
        </p:txBody>
      </p:sp>
      <p:sp>
        <p:nvSpPr>
          <p:cNvPr id="32" name="drawio2pptx:shape:c665"/>
          <p:cNvSpPr/>
          <p:nvPr/>
        </p:nvSpPr>
        <p:spPr>
          <a:xfrm>
            <a:off x="12287250" y="3629025"/>
            <a:ext cx="5143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1A1A2E"/>
                </a:solidFill>
                <a:latin typeface="Consolas"/>
              </a:rPr>
              <a:t>3 / 0</a:t>
            </a:r>
          </a:p>
        </p:txBody>
      </p:sp>
      <p:sp>
        <p:nvSpPr>
          <p:cNvPr id="33" name="drawio2pptx:shape:c666"/>
          <p:cNvSpPr/>
          <p:nvPr/>
        </p:nvSpPr>
        <p:spPr>
          <a:xfrm>
            <a:off x="9144000" y="4105275"/>
            <a:ext cx="8382000" cy="4381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drawio2pptx:shape:c667"/>
          <p:cNvSpPr/>
          <p:nvPr/>
        </p:nvSpPr>
        <p:spPr>
          <a:xfrm>
            <a:off x="9277350" y="4105275"/>
            <a:ext cx="2857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0170C1"/>
                </a:solidFill>
                <a:latin typeface="Consolas"/>
              </a:rPr>
              <a:t>delta_vs_R0</a:t>
            </a:r>
          </a:p>
        </p:txBody>
      </p:sp>
      <p:sp>
        <p:nvSpPr>
          <p:cNvPr id="35" name="drawio2pptx:shape:c668"/>
          <p:cNvSpPr/>
          <p:nvPr/>
        </p:nvSpPr>
        <p:spPr>
          <a:xfrm>
            <a:off x="12287250" y="4105275"/>
            <a:ext cx="5143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1A1A2E"/>
                </a:solidFill>
                <a:latin typeface="Consolas"/>
              </a:rPr>
              <a:t>+1</a:t>
            </a:r>
          </a:p>
        </p:txBody>
      </p:sp>
      <p:sp>
        <p:nvSpPr>
          <p:cNvPr id="36" name="drawio2pptx:shape:c669"/>
          <p:cNvSpPr/>
          <p:nvPr/>
        </p:nvSpPr>
        <p:spPr>
          <a:xfrm>
            <a:off x="9144000" y="4581525"/>
            <a:ext cx="8382000" cy="4381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drawio2pptx:shape:c670"/>
          <p:cNvSpPr/>
          <p:nvPr/>
        </p:nvSpPr>
        <p:spPr>
          <a:xfrm>
            <a:off x="9277350" y="4581525"/>
            <a:ext cx="2857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0170C1"/>
                </a:solidFill>
                <a:latin typeface="Consolas"/>
              </a:rPr>
              <a:t>cost.usd</a:t>
            </a:r>
          </a:p>
        </p:txBody>
      </p:sp>
      <p:sp>
        <p:nvSpPr>
          <p:cNvPr id="38" name="drawio2pptx:shape:c671"/>
          <p:cNvSpPr/>
          <p:nvPr/>
        </p:nvSpPr>
        <p:spPr>
          <a:xfrm>
            <a:off x="12287250" y="4581525"/>
            <a:ext cx="5143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1A1A2E"/>
                </a:solidFill>
                <a:latin typeface="Consolas"/>
              </a:rPr>
              <a:t>0.31</a:t>
            </a:r>
          </a:p>
        </p:txBody>
      </p:sp>
      <p:sp>
        <p:nvSpPr>
          <p:cNvPr id="39" name="drawio2pptx:shape:c672"/>
          <p:cNvSpPr/>
          <p:nvPr/>
        </p:nvSpPr>
        <p:spPr>
          <a:xfrm>
            <a:off x="9144000" y="5057775"/>
            <a:ext cx="8382000" cy="4381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drawio2pptx:shape:c673"/>
          <p:cNvSpPr/>
          <p:nvPr/>
        </p:nvSpPr>
        <p:spPr>
          <a:xfrm>
            <a:off x="9277350" y="5057775"/>
            <a:ext cx="2857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0170C1"/>
                </a:solidFill>
                <a:latin typeface="Consolas"/>
              </a:rPr>
              <a:t>workspace_ref</a:t>
            </a:r>
          </a:p>
        </p:txBody>
      </p:sp>
      <p:sp>
        <p:nvSpPr>
          <p:cNvPr id="41" name="drawio2pptx:shape:c674"/>
          <p:cNvSpPr/>
          <p:nvPr/>
        </p:nvSpPr>
        <p:spPr>
          <a:xfrm>
            <a:off x="12287250" y="5057775"/>
            <a:ext cx="5143500" cy="438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 u="none">
                <a:solidFill>
                  <a:srgbClr val="1A1A2E"/>
                </a:solidFill>
                <a:latin typeface="Consolas"/>
              </a:rPr>
              <a:t>…/candidates/E3-T1/repo</a:t>
            </a:r>
          </a:p>
        </p:txBody>
      </p:sp>
      <p:sp>
        <p:nvSpPr>
          <p:cNvPr id="42" name="drawio2pptx:shape:c675"/>
          <p:cNvSpPr/>
          <p:nvPr/>
        </p:nvSpPr>
        <p:spPr>
          <a:xfrm>
            <a:off x="9144000" y="5857875"/>
            <a:ext cx="8382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170C1"/>
                </a:solidFill>
                <a:latin typeface="微软雅黑"/>
              </a:rPr>
              <a:t>行 vs R0 的配对增量（同一次搜索）</a:t>
            </a:r>
          </a:p>
        </p:txBody>
      </p:sp>
      <p:sp>
        <p:nvSpPr>
          <p:cNvPr id="43" name="drawio2pptx:shape:c676"/>
          <p:cNvSpPr/>
          <p:nvPr/>
        </p:nvSpPr>
        <p:spPr>
          <a:xfrm>
            <a:off x="9525000" y="8143875"/>
            <a:ext cx="7620000" cy="28575"/>
          </a:xfrm>
          <a:prstGeom prst="rect">
            <a:avLst/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drawio2pptx:shape:c677"/>
          <p:cNvSpPr/>
          <p:nvPr/>
        </p:nvSpPr>
        <p:spPr>
          <a:xfrm>
            <a:off x="10001250" y="8143875"/>
            <a:ext cx="1047750" cy="3810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drawio2pptx:shape:c678"/>
          <p:cNvSpPr/>
          <p:nvPr/>
        </p:nvSpPr>
        <p:spPr>
          <a:xfrm>
            <a:off x="9715500" y="8220075"/>
            <a:ext cx="16192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探针</a:t>
            </a:r>
          </a:p>
        </p:txBody>
      </p:sp>
      <p:sp>
        <p:nvSpPr>
          <p:cNvPr id="46" name="drawio2pptx:shape:c679"/>
          <p:cNvSpPr/>
          <p:nvPr/>
        </p:nvSpPr>
        <p:spPr>
          <a:xfrm>
            <a:off x="9715500" y="7724775"/>
            <a:ext cx="16192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净修复 0</a:t>
            </a:r>
          </a:p>
        </p:txBody>
      </p:sp>
      <p:sp>
        <p:nvSpPr>
          <p:cNvPr id="47" name="drawio2pptx:shape:c680"/>
          <p:cNvSpPr/>
          <p:nvPr/>
        </p:nvSpPr>
        <p:spPr>
          <a:xfrm>
            <a:off x="11906250" y="7096125"/>
            <a:ext cx="1047750" cy="10477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drawio2pptx:shape:c681"/>
          <p:cNvSpPr/>
          <p:nvPr/>
        </p:nvSpPr>
        <p:spPr>
          <a:xfrm>
            <a:off x="11620500" y="8220075"/>
            <a:ext cx="16192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R0</a:t>
            </a:r>
          </a:p>
        </p:txBody>
      </p:sp>
      <p:sp>
        <p:nvSpPr>
          <p:cNvPr id="49" name="drawio2pptx:shape:c682"/>
          <p:cNvSpPr/>
          <p:nvPr/>
        </p:nvSpPr>
        <p:spPr>
          <a:xfrm>
            <a:off x="11620500" y="6677025"/>
            <a:ext cx="16192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净修复 2</a:t>
            </a:r>
          </a:p>
        </p:txBody>
      </p:sp>
      <p:sp>
        <p:nvSpPr>
          <p:cNvPr id="50" name="drawio2pptx:shape:c683"/>
          <p:cNvSpPr/>
          <p:nvPr/>
        </p:nvSpPr>
        <p:spPr>
          <a:xfrm>
            <a:off x="13811250" y="6572250"/>
            <a:ext cx="1047750" cy="157162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drawio2pptx:shape:c684"/>
          <p:cNvSpPr/>
          <p:nvPr/>
        </p:nvSpPr>
        <p:spPr>
          <a:xfrm>
            <a:off x="13525500" y="8220075"/>
            <a:ext cx="16192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E3-T1</a:t>
            </a:r>
          </a:p>
        </p:txBody>
      </p:sp>
      <p:sp>
        <p:nvSpPr>
          <p:cNvPr id="52" name="drawio2pptx:shape:c685"/>
          <p:cNvSpPr/>
          <p:nvPr/>
        </p:nvSpPr>
        <p:spPr>
          <a:xfrm>
            <a:off x="13525500" y="6153150"/>
            <a:ext cx="16192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净修复 3</a:t>
            </a:r>
          </a:p>
        </p:txBody>
      </p:sp>
      <p:sp>
        <p:nvSpPr>
          <p:cNvPr id="53" name="drawio2pptx:shape:c686"/>
          <p:cNvSpPr/>
          <p:nvPr/>
        </p:nvSpPr>
        <p:spPr>
          <a:xfrm>
            <a:off x="15716250" y="7620000"/>
            <a:ext cx="1047750" cy="523875"/>
          </a:xfrm>
          <a:prstGeom prst="rect">
            <a:avLst/>
          </a:prstGeom>
          <a:solidFill>
            <a:srgbClr val="7FB8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drawio2pptx:shape:c687"/>
          <p:cNvSpPr/>
          <p:nvPr/>
        </p:nvSpPr>
        <p:spPr>
          <a:xfrm>
            <a:off x="15430500" y="8220075"/>
            <a:ext cx="16192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E3-S1</a:t>
            </a:r>
          </a:p>
        </p:txBody>
      </p:sp>
      <p:sp>
        <p:nvSpPr>
          <p:cNvPr id="55" name="drawio2pptx:shape:c688"/>
          <p:cNvSpPr/>
          <p:nvPr/>
        </p:nvSpPr>
        <p:spPr>
          <a:xfrm>
            <a:off x="15430500" y="7200900"/>
            <a:ext cx="161925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u="none">
                <a:solidFill>
                  <a:srgbClr val="4A5568"/>
                </a:solidFill>
                <a:latin typeface="微软雅黑"/>
              </a:rPr>
              <a:t>净修复 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69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691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692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693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数据驱动（二）：把错误路由给对的部件</a:t>
            </a:r>
          </a:p>
        </p:txBody>
      </p:sp>
      <p:sp>
        <p:nvSpPr>
          <p:cNvPr id="6" name="drawio2pptx:shape:c694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695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696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15 / 18</a:t>
            </a:r>
          </a:p>
        </p:txBody>
      </p:sp>
      <p:sp>
        <p:nvSpPr>
          <p:cNvPr id="9" name="drawio2pptx:shape:c697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ROUTING FAILURES</a:t>
            </a:r>
          </a:p>
        </p:txBody>
      </p:sp>
      <p:sp>
        <p:nvSpPr>
          <p:cNvPr id="10" name="drawio2pptx:shape:c698"/>
          <p:cNvSpPr/>
          <p:nvPr/>
        </p:nvSpPr>
        <p:spPr>
          <a:xfrm>
            <a:off x="7239000" y="1571625"/>
            <a:ext cx="3810000" cy="85725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drawio2pptx:shape:c699"/>
          <p:cNvSpPr/>
          <p:nvPr/>
        </p:nvSpPr>
        <p:spPr>
          <a:xfrm>
            <a:off x="7524750" y="1752600"/>
            <a:ext cx="495300" cy="4953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drawio2pptx:shape-image:c69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750" y="1752600"/>
            <a:ext cx="495300" cy="495300"/>
          </a:xfrm>
          <a:prstGeom prst="rect">
            <a:avLst/>
          </a:prstGeom>
          <a:ln>
            <a:noFill/>
          </a:ln>
        </p:spPr>
      </p:pic>
      <p:sp>
        <p:nvSpPr>
          <p:cNvPr id="13" name="drawio2pptx:shape:c700"/>
          <p:cNvSpPr/>
          <p:nvPr/>
        </p:nvSpPr>
        <p:spPr>
          <a:xfrm>
            <a:off x="8096250" y="1571625"/>
            <a:ext cx="2857500" cy="857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50" b="1" i="0" u="none">
                <a:solidFill>
                  <a:srgbClr val="FFFFFF"/>
                </a:solidFill>
                <a:latin typeface="微软雅黑"/>
              </a:rPr>
              <a:t>持续失败</a:t>
            </a:r>
          </a:p>
        </p:txBody>
      </p:sp>
      <p:sp>
        <p:nvSpPr>
          <p:cNvPr id="14" name="drawio2pptx:shape:c701"/>
          <p:cNvSpPr/>
          <p:nvPr/>
        </p:nvSpPr>
        <p:spPr>
          <a:xfrm>
            <a:off x="1524000" y="2857500"/>
            <a:ext cx="15240000" cy="381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drawio2pptx:shape:c702"/>
          <p:cNvSpPr/>
          <p:nvPr/>
        </p:nvSpPr>
        <p:spPr>
          <a:xfrm>
            <a:off x="9124950" y="2428875"/>
            <a:ext cx="38100" cy="428625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drawio2pptx:shape:c703"/>
          <p:cNvSpPr/>
          <p:nvPr/>
        </p:nvSpPr>
        <p:spPr>
          <a:xfrm>
            <a:off x="2171700" y="2857500"/>
            <a:ext cx="38100" cy="476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drawio2pptx:shape:c704"/>
          <p:cNvSpPr/>
          <p:nvPr/>
        </p:nvSpPr>
        <p:spPr>
          <a:xfrm>
            <a:off x="857250" y="3333750"/>
            <a:ext cx="2667000" cy="2857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drawio2pptx:shape:c705"/>
          <p:cNvSpPr/>
          <p:nvPr/>
        </p:nvSpPr>
        <p:spPr>
          <a:xfrm>
            <a:off x="1905000" y="348615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drawio2pptx:shape-image:c70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348615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20" name="drawio2pptx:shape:c706"/>
          <p:cNvSpPr/>
          <p:nvPr/>
        </p:nvSpPr>
        <p:spPr>
          <a:xfrm>
            <a:off x="971550" y="4152900"/>
            <a:ext cx="24384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当前里程碑造成的回归</a:t>
            </a:r>
          </a:p>
        </p:txBody>
      </p:sp>
      <p:sp>
        <p:nvSpPr>
          <p:cNvPr id="21" name="drawio2pptx:shape:c707"/>
          <p:cNvSpPr/>
          <p:nvPr/>
        </p:nvSpPr>
        <p:spPr>
          <a:xfrm>
            <a:off x="1047750" y="5476875"/>
            <a:ext cx="2286000" cy="57150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微软雅黑"/>
              </a:rPr>
              <a:t>→ 剧本</a:t>
            </a:r>
          </a:p>
        </p:txBody>
      </p:sp>
      <p:sp>
        <p:nvSpPr>
          <p:cNvPr id="22" name="drawio2pptx:shape:c708"/>
          <p:cNvSpPr/>
          <p:nvPr/>
        </p:nvSpPr>
        <p:spPr>
          <a:xfrm>
            <a:off x="5505450" y="2857500"/>
            <a:ext cx="38100" cy="476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drawio2pptx:shape:c709"/>
          <p:cNvSpPr/>
          <p:nvPr/>
        </p:nvSpPr>
        <p:spPr>
          <a:xfrm>
            <a:off x="4191000" y="3333750"/>
            <a:ext cx="2667000" cy="2857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drawio2pptx:shape:c710"/>
          <p:cNvSpPr/>
          <p:nvPr/>
        </p:nvSpPr>
        <p:spPr>
          <a:xfrm>
            <a:off x="5238750" y="348615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drawio2pptx:shape-image:c7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0" y="348615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26" name="drawio2pptx:shape:c711"/>
          <p:cNvSpPr/>
          <p:nvPr/>
        </p:nvSpPr>
        <p:spPr>
          <a:xfrm>
            <a:off x="4305300" y="4152900"/>
            <a:ext cx="24384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前序里程碑带着失败提交</a:t>
            </a:r>
          </a:p>
        </p:txBody>
      </p:sp>
      <p:sp>
        <p:nvSpPr>
          <p:cNvPr id="27" name="drawio2pptx:shape:c712"/>
          <p:cNvSpPr/>
          <p:nvPr/>
        </p:nvSpPr>
        <p:spPr>
          <a:xfrm>
            <a:off x="4381500" y="5476875"/>
            <a:ext cx="2286000" cy="57150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微软雅黑"/>
              </a:rPr>
              <a:t>→ 前序里程碑的设计与剧本</a:t>
            </a:r>
          </a:p>
        </p:txBody>
      </p:sp>
      <p:sp>
        <p:nvSpPr>
          <p:cNvPr id="28" name="drawio2pptx:shape:c713"/>
          <p:cNvSpPr/>
          <p:nvPr/>
        </p:nvSpPr>
        <p:spPr>
          <a:xfrm>
            <a:off x="8839200" y="2857500"/>
            <a:ext cx="38100" cy="476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drawio2pptx:shape:c714"/>
          <p:cNvSpPr/>
          <p:nvPr/>
        </p:nvSpPr>
        <p:spPr>
          <a:xfrm>
            <a:off x="7524750" y="3333750"/>
            <a:ext cx="2667000" cy="2857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drawio2pptx:shape:c715"/>
          <p:cNvSpPr/>
          <p:nvPr/>
        </p:nvSpPr>
        <p:spPr>
          <a:xfrm>
            <a:off x="8572500" y="348615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drawio2pptx:shape-image:c7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348615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32" name="drawio2pptx:shape:c716"/>
          <p:cNvSpPr/>
          <p:nvPr/>
        </p:nvSpPr>
        <p:spPr>
          <a:xfrm>
            <a:off x="7639050" y="4152900"/>
            <a:ext cx="24384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前序套件没覆盖、套件可疑、用例冲突</a:t>
            </a:r>
          </a:p>
        </p:txBody>
      </p:sp>
      <p:sp>
        <p:nvSpPr>
          <p:cNvPr id="33" name="drawio2pptx:shape:c717"/>
          <p:cNvSpPr/>
          <p:nvPr/>
        </p:nvSpPr>
        <p:spPr>
          <a:xfrm>
            <a:off x="7715250" y="5476875"/>
            <a:ext cx="2286000" cy="57150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微软雅黑"/>
              </a:rPr>
              <a:t>→ 出题者</a:t>
            </a:r>
          </a:p>
        </p:txBody>
      </p:sp>
      <p:sp>
        <p:nvSpPr>
          <p:cNvPr id="34" name="drawio2pptx:shape:c718"/>
          <p:cNvSpPr/>
          <p:nvPr/>
        </p:nvSpPr>
        <p:spPr>
          <a:xfrm>
            <a:off x="12172950" y="2857500"/>
            <a:ext cx="38100" cy="476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drawio2pptx:shape:c719"/>
          <p:cNvSpPr/>
          <p:nvPr/>
        </p:nvSpPr>
        <p:spPr>
          <a:xfrm>
            <a:off x="10858500" y="3333750"/>
            <a:ext cx="2667000" cy="2857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drawio2pptx:shape:c720"/>
          <p:cNvSpPr/>
          <p:nvPr/>
        </p:nvSpPr>
        <p:spPr>
          <a:xfrm>
            <a:off x="11906250" y="348615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drawio2pptx:shape-image:c7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06250" y="348615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38" name="drawio2pptx:shape:c721"/>
          <p:cNvSpPr/>
          <p:nvPr/>
        </p:nvSpPr>
        <p:spPr>
          <a:xfrm>
            <a:off x="10972800" y="4152900"/>
            <a:ext cx="24384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无人负责、边界模糊</a:t>
            </a:r>
          </a:p>
        </p:txBody>
      </p:sp>
      <p:sp>
        <p:nvSpPr>
          <p:cNvPr id="39" name="drawio2pptx:shape:c722"/>
          <p:cNvSpPr/>
          <p:nvPr/>
        </p:nvSpPr>
        <p:spPr>
          <a:xfrm>
            <a:off x="11049000" y="5476875"/>
            <a:ext cx="2286000" cy="57150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微软雅黑"/>
              </a:rPr>
              <a:t>→ 规划器</a:t>
            </a:r>
          </a:p>
        </p:txBody>
      </p:sp>
      <p:sp>
        <p:nvSpPr>
          <p:cNvPr id="40" name="drawio2pptx:shape:c723"/>
          <p:cNvSpPr/>
          <p:nvPr/>
        </p:nvSpPr>
        <p:spPr>
          <a:xfrm>
            <a:off x="15506700" y="2857500"/>
            <a:ext cx="38100" cy="476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drawio2pptx:shape:c724"/>
          <p:cNvSpPr/>
          <p:nvPr/>
        </p:nvSpPr>
        <p:spPr>
          <a:xfrm>
            <a:off x="14192250" y="3333750"/>
            <a:ext cx="2667000" cy="2857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drawio2pptx:shape:c725"/>
          <p:cNvSpPr/>
          <p:nvPr/>
        </p:nvSpPr>
        <p:spPr>
          <a:xfrm>
            <a:off x="15240000" y="3486150"/>
            <a:ext cx="571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3" name="drawio2pptx:shape-image:c7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0" y="3486150"/>
            <a:ext cx="571500" cy="571500"/>
          </a:xfrm>
          <a:prstGeom prst="rect">
            <a:avLst/>
          </a:prstGeom>
          <a:ln>
            <a:noFill/>
          </a:ln>
        </p:spPr>
      </p:pic>
      <p:sp>
        <p:nvSpPr>
          <p:cNvPr id="44" name="drawio2pptx:shape:c726"/>
          <p:cNvSpPr/>
          <p:nvPr/>
        </p:nvSpPr>
        <p:spPr>
          <a:xfrm>
            <a:off x="14306550" y="4152900"/>
            <a:ext cx="2438400" cy="1143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环境问题</a:t>
            </a:r>
          </a:p>
        </p:txBody>
      </p:sp>
      <p:sp>
        <p:nvSpPr>
          <p:cNvPr id="45" name="drawio2pptx:shape:c727"/>
          <p:cNvSpPr/>
          <p:nvPr/>
        </p:nvSpPr>
        <p:spPr>
          <a:xfrm>
            <a:off x="14382750" y="5476875"/>
            <a:ext cx="2286000" cy="571500"/>
          </a:xfrm>
          <a:prstGeom prst="round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FFFFF"/>
                </a:solidFill>
                <a:latin typeface="微软雅黑"/>
              </a:rPr>
              <a:t>→ 守卫机制</a:t>
            </a:r>
          </a:p>
        </p:txBody>
      </p:sp>
      <p:sp>
        <p:nvSpPr>
          <p:cNvPr id="46" name="drawio2pptx:shape:c728"/>
          <p:cNvSpPr/>
          <p:nvPr/>
        </p:nvSpPr>
        <p:spPr>
          <a:xfrm>
            <a:off x="666750" y="693420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drawio2pptx:shape:c729"/>
          <p:cNvSpPr/>
          <p:nvPr/>
        </p:nvSpPr>
        <p:spPr>
          <a:xfrm>
            <a:off x="933450" y="6858000"/>
            <a:ext cx="166878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每个失败先判断归谁，再决定由谁来改；路由记录写入账本，慢循环和外层循环只读属于自己的那部分</a:t>
            </a:r>
          </a:p>
        </p:txBody>
      </p:sp>
      <p:sp>
        <p:nvSpPr>
          <p:cNvPr id="48" name="drawio2pptx:shape:c730"/>
          <p:cNvSpPr/>
          <p:nvPr/>
        </p:nvSpPr>
        <p:spPr>
          <a:xfrm>
            <a:off x="666750" y="7600950"/>
            <a:ext cx="76200" cy="2476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drawio2pptx:shape:c731"/>
          <p:cNvSpPr/>
          <p:nvPr/>
        </p:nvSpPr>
        <p:spPr>
          <a:xfrm>
            <a:off x="933450" y="7524750"/>
            <a:ext cx="166878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1A1A2E"/>
                </a:solidFill>
                <a:latin typeface="微软雅黑"/>
              </a:rPr>
              <a:t>好处：每个部件只拿到属于自己的错误，归因干净，剧本不会为出题者的错背锅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733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734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735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736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数据驱动（三）：错题库、错题重跑、记忆回放</a:t>
            </a:r>
          </a:p>
        </p:txBody>
      </p:sp>
      <p:sp>
        <p:nvSpPr>
          <p:cNvPr id="6" name="drawio2pptx:shape:c737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738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739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16 / 18</a:t>
            </a:r>
          </a:p>
        </p:txBody>
      </p:sp>
      <p:sp>
        <p:nvSpPr>
          <p:cNvPr id="9" name="drawio2pptx:shape:c740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BANK · RERUN · REPLAY</a:t>
            </a:r>
          </a:p>
        </p:txBody>
      </p:sp>
      <p:sp>
        <p:nvSpPr>
          <p:cNvPr id="10" name="drawio2pptx:shape:c741"/>
          <p:cNvSpPr/>
          <p:nvPr/>
        </p:nvSpPr>
        <p:spPr>
          <a:xfrm>
            <a:off x="666750" y="161925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1" name="drawio2pptx:shape-image:c74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161925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12" name="drawio2pptx:shape:c742"/>
          <p:cNvSpPr/>
          <p:nvPr/>
        </p:nvSpPr>
        <p:spPr>
          <a:xfrm>
            <a:off x="1333500" y="1619250"/>
            <a:ext cx="161925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错题库：训练题的里程碑检查点（前序快照、冻结套件、现任工作区）；失败必收，成功按比例抽样</a:t>
            </a:r>
          </a:p>
        </p:txBody>
      </p:sp>
      <p:sp>
        <p:nvSpPr>
          <p:cNvPr id="13" name="drawio2pptx:shape:c743"/>
          <p:cNvSpPr/>
          <p:nvPr/>
        </p:nvSpPr>
        <p:spPr>
          <a:xfrm>
            <a:off x="666750" y="2381250"/>
            <a:ext cx="8191500" cy="4000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0170C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drawio2pptx:shape:c744"/>
          <p:cNvSpPr/>
          <p:nvPr/>
        </p:nvSpPr>
        <p:spPr>
          <a:xfrm>
            <a:off x="895350" y="2571750"/>
            <a:ext cx="6096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drawio2pptx:shape-image:c7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350" y="2571750"/>
            <a:ext cx="609600" cy="609600"/>
          </a:xfrm>
          <a:prstGeom prst="rect">
            <a:avLst/>
          </a:prstGeom>
          <a:ln>
            <a:noFill/>
          </a:ln>
        </p:spPr>
      </p:pic>
      <p:sp>
        <p:nvSpPr>
          <p:cNvPr id="16" name="drawio2pptx:shape:c745"/>
          <p:cNvSpPr/>
          <p:nvPr/>
        </p:nvSpPr>
        <p:spPr>
          <a:xfrm>
            <a:off x="1714500" y="2495550"/>
            <a:ext cx="66675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0170C1"/>
                </a:solidFill>
                <a:latin typeface="微软雅黑"/>
              </a:rPr>
              <a:t>记忆回放  ·  复用已存结果，不重新执行</a:t>
            </a:r>
          </a:p>
        </p:txBody>
      </p:sp>
      <p:sp>
        <p:nvSpPr>
          <p:cNvPr id="17" name="drawio2pptx:shape:c746"/>
          <p:cNvSpPr/>
          <p:nvPr/>
        </p:nvSpPr>
        <p:spPr>
          <a:xfrm>
            <a:off x="952500" y="3495675"/>
            <a:ext cx="76200" cy="219075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drawio2pptx:shape:c747"/>
          <p:cNvSpPr/>
          <p:nvPr/>
        </p:nvSpPr>
        <p:spPr>
          <a:xfrm>
            <a:off x="1219200" y="3429000"/>
            <a:ext cx="7353300" cy="485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1A1A2E"/>
                </a:solidFill>
                <a:latin typeface="微软雅黑"/>
              </a:rPr>
              <a:t>输入：账本、已存工作区</a:t>
            </a:r>
          </a:p>
        </p:txBody>
      </p:sp>
      <p:sp>
        <p:nvSpPr>
          <p:cNvPr id="19" name="drawio2pptx:shape:c748"/>
          <p:cNvSpPr/>
          <p:nvPr/>
        </p:nvSpPr>
        <p:spPr>
          <a:xfrm>
            <a:off x="952500" y="4114800"/>
            <a:ext cx="76200" cy="219075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drawio2pptx:shape:c749"/>
          <p:cNvSpPr/>
          <p:nvPr/>
        </p:nvSpPr>
        <p:spPr>
          <a:xfrm>
            <a:off x="1219200" y="4048125"/>
            <a:ext cx="7353300" cy="485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1A1A2E"/>
                </a:solidFill>
                <a:latin typeface="微软雅黑"/>
              </a:rPr>
              <a:t>成本：零模型调用</a:t>
            </a:r>
          </a:p>
        </p:txBody>
      </p:sp>
      <p:sp>
        <p:nvSpPr>
          <p:cNvPr id="21" name="drawio2pptx:shape:c750"/>
          <p:cNvSpPr/>
          <p:nvPr/>
        </p:nvSpPr>
        <p:spPr>
          <a:xfrm>
            <a:off x="952500" y="4733925"/>
            <a:ext cx="76200" cy="219075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drawio2pptx:shape:c751"/>
          <p:cNvSpPr/>
          <p:nvPr/>
        </p:nvSpPr>
        <p:spPr>
          <a:xfrm>
            <a:off x="1219200" y="4667250"/>
            <a:ext cx="7353300" cy="485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1A1A2E"/>
                </a:solidFill>
                <a:latin typeface="微软雅黑"/>
              </a:rPr>
              <a:t>用途：排序规则验证、预测校准、出题者更新后重建账本</a:t>
            </a:r>
          </a:p>
        </p:txBody>
      </p:sp>
      <p:sp>
        <p:nvSpPr>
          <p:cNvPr id="23" name="drawio2pptx:shape:c752"/>
          <p:cNvSpPr/>
          <p:nvPr/>
        </p:nvSpPr>
        <p:spPr>
          <a:xfrm>
            <a:off x="9239250" y="2381250"/>
            <a:ext cx="8191500" cy="4000500"/>
          </a:xfrm>
          <a:prstGeom prst="roundRect">
            <a:avLst/>
          </a:prstGeom>
          <a:solidFill>
            <a:srgbClr val="FFFFFF"/>
          </a:solidFill>
          <a:ln w="28575">
            <a:solidFill>
              <a:srgbClr val="F28C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drawio2pptx:shape:c753"/>
          <p:cNvSpPr/>
          <p:nvPr/>
        </p:nvSpPr>
        <p:spPr>
          <a:xfrm>
            <a:off x="9467850" y="2571750"/>
            <a:ext cx="609600" cy="6096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drawio2pptx:shape-image:c75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7850" y="2571750"/>
            <a:ext cx="609600" cy="609600"/>
          </a:xfrm>
          <a:prstGeom prst="rect">
            <a:avLst/>
          </a:prstGeom>
          <a:ln>
            <a:noFill/>
          </a:ln>
        </p:spPr>
      </p:pic>
      <p:sp>
        <p:nvSpPr>
          <p:cNvPr id="26" name="drawio2pptx:shape:c754"/>
          <p:cNvSpPr/>
          <p:nvPr/>
        </p:nvSpPr>
        <p:spPr>
          <a:xfrm>
            <a:off x="10287000" y="2495550"/>
            <a:ext cx="6667500" cy="762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 i="0" u="none">
                <a:solidFill>
                  <a:srgbClr val="F28C28"/>
                </a:solidFill>
                <a:latin typeface="微软雅黑"/>
              </a:rPr>
              <a:t>错题重跑  ·  从检查点重新执行</a:t>
            </a:r>
          </a:p>
        </p:txBody>
      </p:sp>
      <p:sp>
        <p:nvSpPr>
          <p:cNvPr id="27" name="drawio2pptx:shape:c755"/>
          <p:cNvSpPr/>
          <p:nvPr/>
        </p:nvSpPr>
        <p:spPr>
          <a:xfrm>
            <a:off x="9525000" y="3495675"/>
            <a:ext cx="76200" cy="21907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drawio2pptx:shape:c756"/>
          <p:cNvSpPr/>
          <p:nvPr/>
        </p:nvSpPr>
        <p:spPr>
          <a:xfrm>
            <a:off x="9791700" y="3429000"/>
            <a:ext cx="7353300" cy="485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1A1A2E"/>
                </a:solidFill>
                <a:latin typeface="微软雅黑"/>
              </a:rPr>
              <a:t>输入：错题库条目</a:t>
            </a:r>
          </a:p>
        </p:txBody>
      </p:sp>
      <p:sp>
        <p:nvSpPr>
          <p:cNvPr id="29" name="drawio2pptx:shape:c757"/>
          <p:cNvSpPr/>
          <p:nvPr/>
        </p:nvSpPr>
        <p:spPr>
          <a:xfrm>
            <a:off x="9525000" y="4114800"/>
            <a:ext cx="76200" cy="21907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drawio2pptx:shape:c758"/>
          <p:cNvSpPr/>
          <p:nvPr/>
        </p:nvSpPr>
        <p:spPr>
          <a:xfrm>
            <a:off x="9791700" y="4048125"/>
            <a:ext cx="7353300" cy="485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1A1A2E"/>
                </a:solidFill>
                <a:latin typeface="微软雅黑"/>
              </a:rPr>
              <a:t>成本：每次一个里程碑的运行</a:t>
            </a:r>
          </a:p>
        </p:txBody>
      </p:sp>
      <p:sp>
        <p:nvSpPr>
          <p:cNvPr id="31" name="drawio2pptx:shape:c759"/>
          <p:cNvSpPr/>
          <p:nvPr/>
        </p:nvSpPr>
        <p:spPr>
          <a:xfrm>
            <a:off x="9525000" y="4733925"/>
            <a:ext cx="76200" cy="219075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drawio2pptx:shape:c760"/>
          <p:cNvSpPr/>
          <p:nvPr/>
        </p:nvSpPr>
        <p:spPr>
          <a:xfrm>
            <a:off x="9791700" y="4667250"/>
            <a:ext cx="7353300" cy="4857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1A1A2E"/>
                </a:solidFill>
                <a:latin typeface="微软雅黑"/>
              </a:rPr>
              <a:t>用途：给少见错误类补样本、判定首轮 F 条目</a:t>
            </a:r>
          </a:p>
        </p:txBody>
      </p:sp>
      <p:sp>
        <p:nvSpPr>
          <p:cNvPr id="33" name="drawio2pptx:shape:c761"/>
          <p:cNvSpPr/>
          <p:nvPr/>
        </p:nvSpPr>
        <p:spPr>
          <a:xfrm>
            <a:off x="666750" y="6667500"/>
            <a:ext cx="5334000" cy="66675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drawio2pptx:shape:c762"/>
          <p:cNvSpPr/>
          <p:nvPr/>
        </p:nvSpPr>
        <p:spPr>
          <a:xfrm>
            <a:off x="819150" y="6772275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5" name="drawio2pptx:shape-image:c76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6772275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36" name="drawio2pptx:shape:c763"/>
          <p:cNvSpPr/>
          <p:nvPr/>
        </p:nvSpPr>
        <p:spPr>
          <a:xfrm>
            <a:off x="1428750" y="6667500"/>
            <a:ext cx="44767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重跑规矩：新旧配对</a:t>
            </a:r>
          </a:p>
        </p:txBody>
      </p:sp>
      <p:sp>
        <p:nvSpPr>
          <p:cNvPr id="37" name="drawio2pptx:shape:c764"/>
          <p:cNvSpPr/>
          <p:nvPr/>
        </p:nvSpPr>
        <p:spPr>
          <a:xfrm>
            <a:off x="6381750" y="6667500"/>
            <a:ext cx="5334000" cy="66675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drawio2pptx:shape:c765"/>
          <p:cNvSpPr/>
          <p:nvPr/>
        </p:nvSpPr>
        <p:spPr>
          <a:xfrm>
            <a:off x="6534150" y="6772275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9" name="drawio2pptx:shape-image:c76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4150" y="6772275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40" name="drawio2pptx:shape:c766"/>
          <p:cNvSpPr/>
          <p:nvPr/>
        </p:nvSpPr>
        <p:spPr>
          <a:xfrm>
            <a:off x="7143750" y="6667500"/>
            <a:ext cx="44767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重跑规矩：评估器固定</a:t>
            </a:r>
          </a:p>
        </p:txBody>
      </p:sp>
      <p:sp>
        <p:nvSpPr>
          <p:cNvPr id="41" name="drawio2pptx:shape:c767"/>
          <p:cNvSpPr/>
          <p:nvPr/>
        </p:nvSpPr>
        <p:spPr>
          <a:xfrm>
            <a:off x="12096750" y="6667500"/>
            <a:ext cx="5334000" cy="66675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drawio2pptx:shape:c768"/>
          <p:cNvSpPr/>
          <p:nvPr/>
        </p:nvSpPr>
        <p:spPr>
          <a:xfrm>
            <a:off x="12249150" y="6772275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3" name="drawio2pptx:shape-image:c76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49150" y="6772275"/>
            <a:ext cx="457200" cy="457200"/>
          </a:xfrm>
          <a:prstGeom prst="rect">
            <a:avLst/>
          </a:prstGeom>
          <a:ln>
            <a:noFill/>
          </a:ln>
        </p:spPr>
      </p:pic>
      <p:sp>
        <p:nvSpPr>
          <p:cNvPr id="44" name="drawio2pptx:shape:c769"/>
          <p:cNvSpPr/>
          <p:nvPr/>
        </p:nvSpPr>
        <p:spPr>
          <a:xfrm>
            <a:off x="12858750" y="6667500"/>
            <a:ext cx="4476750" cy="6667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重跑规矩：前序状态固定</a:t>
            </a:r>
          </a:p>
        </p:txBody>
      </p:sp>
      <p:sp>
        <p:nvSpPr>
          <p:cNvPr id="45" name="drawio2pptx:shape:c770"/>
          <p:cNvSpPr/>
          <p:nvPr/>
        </p:nvSpPr>
        <p:spPr>
          <a:xfrm>
            <a:off x="666750" y="7810500"/>
            <a:ext cx="16954500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drawio2pptx:shape:c771"/>
          <p:cNvSpPr/>
          <p:nvPr/>
        </p:nvSpPr>
        <p:spPr>
          <a:xfrm>
            <a:off x="666750" y="809625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7" name="drawio2pptx:shape-image:c77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" y="809625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48" name="drawio2pptx:shape:c772"/>
          <p:cNvSpPr/>
          <p:nvPr/>
        </p:nvSpPr>
        <p:spPr>
          <a:xfrm>
            <a:off x="1333500" y="8096250"/>
            <a:ext cx="16192500" cy="5715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75" b="0" i="0" u="none">
                <a:solidFill>
                  <a:srgbClr val="C0392B"/>
                </a:solidFill>
                <a:latin typeface="微软雅黑"/>
              </a:rPr>
              <a:t>held-out 只在这里：训练题上的密封绊线。门上变好但 held-out 变差，就撤销升级并路由给出题者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774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775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776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777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进化的快慢</a:t>
            </a:r>
          </a:p>
        </p:txBody>
      </p:sp>
      <p:sp>
        <p:nvSpPr>
          <p:cNvPr id="6" name="drawio2pptx:shape:c778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779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780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17 / 18</a:t>
            </a:r>
          </a:p>
        </p:txBody>
      </p:sp>
      <p:sp>
        <p:nvSpPr>
          <p:cNvPr id="9" name="drawio2pptx:shape:c781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FOUR TIMESCALES</a:t>
            </a:r>
          </a:p>
        </p:txBody>
      </p:sp>
      <p:sp>
        <p:nvSpPr>
          <p:cNvPr id="10" name="drawio2pptx:shape:c782"/>
          <p:cNvSpPr/>
          <p:nvPr/>
        </p:nvSpPr>
        <p:spPr>
          <a:xfrm>
            <a:off x="666750" y="1571625"/>
            <a:ext cx="3429000" cy="5715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FFFFFF"/>
                </a:solidFill>
                <a:latin typeface="微软雅黑"/>
              </a:rPr>
              <a:t>层</a:t>
            </a:r>
          </a:p>
        </p:txBody>
      </p:sp>
      <p:sp>
        <p:nvSpPr>
          <p:cNvPr id="11" name="drawio2pptx:shape:c783"/>
          <p:cNvSpPr/>
          <p:nvPr/>
        </p:nvSpPr>
        <p:spPr>
          <a:xfrm>
            <a:off x="4095750" y="1571625"/>
            <a:ext cx="4191000" cy="5715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FFFFFF"/>
                </a:solidFill>
                <a:latin typeface="微软雅黑"/>
              </a:rPr>
              <a:t>频率</a:t>
            </a:r>
          </a:p>
        </p:txBody>
      </p:sp>
      <p:sp>
        <p:nvSpPr>
          <p:cNvPr id="12" name="drawio2pptx:shape:c784"/>
          <p:cNvSpPr/>
          <p:nvPr/>
        </p:nvSpPr>
        <p:spPr>
          <a:xfrm>
            <a:off x="8286750" y="1571625"/>
            <a:ext cx="4572000" cy="5715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FFFFFF"/>
                </a:solidFill>
                <a:latin typeface="微软雅黑"/>
              </a:rPr>
              <a:t>进化对象</a:t>
            </a:r>
          </a:p>
        </p:txBody>
      </p:sp>
      <p:sp>
        <p:nvSpPr>
          <p:cNvPr id="13" name="drawio2pptx:shape:c785"/>
          <p:cNvSpPr/>
          <p:nvPr/>
        </p:nvSpPr>
        <p:spPr>
          <a:xfrm>
            <a:off x="12858750" y="1571625"/>
            <a:ext cx="4762500" cy="5715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FFFFFF"/>
                </a:solidFill>
                <a:latin typeface="微软雅黑"/>
              </a:rPr>
              <a:t>主要信号</a:t>
            </a:r>
          </a:p>
        </p:txBody>
      </p:sp>
      <p:sp>
        <p:nvSpPr>
          <p:cNvPr id="14" name="drawio2pptx:shape:c786"/>
          <p:cNvSpPr/>
          <p:nvPr/>
        </p:nvSpPr>
        <p:spPr>
          <a:xfrm>
            <a:off x="666750" y="2143125"/>
            <a:ext cx="342900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        快速搜索</a:t>
            </a:r>
          </a:p>
        </p:txBody>
      </p:sp>
      <p:sp>
        <p:nvSpPr>
          <p:cNvPr id="15" name="drawio2pptx:shape:c787"/>
          <p:cNvSpPr/>
          <p:nvPr/>
        </p:nvSpPr>
        <p:spPr>
          <a:xfrm>
            <a:off x="4095750" y="2143125"/>
            <a:ext cx="419100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每个里程碑</a:t>
            </a:r>
          </a:p>
        </p:txBody>
      </p:sp>
      <p:sp>
        <p:nvSpPr>
          <p:cNvPr id="16" name="drawio2pptx:shape:c788"/>
          <p:cNvSpPr/>
          <p:nvPr/>
        </p:nvSpPr>
        <p:spPr>
          <a:xfrm>
            <a:off x="8286750" y="2143125"/>
            <a:ext cx="457200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不进化，只写账本</a:t>
            </a:r>
          </a:p>
        </p:txBody>
      </p:sp>
      <p:sp>
        <p:nvSpPr>
          <p:cNvPr id="17" name="drawio2pptx:shape:c789"/>
          <p:cNvSpPr/>
          <p:nvPr/>
        </p:nvSpPr>
        <p:spPr>
          <a:xfrm>
            <a:off x="12858750" y="2143125"/>
            <a:ext cx="476250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门的逐用例结果</a:t>
            </a:r>
          </a:p>
        </p:txBody>
      </p:sp>
      <p:sp>
        <p:nvSpPr>
          <p:cNvPr id="18" name="drawio2pptx:shape:c790"/>
          <p:cNvSpPr/>
          <p:nvPr/>
        </p:nvSpPr>
        <p:spPr>
          <a:xfrm>
            <a:off x="800100" y="2276475"/>
            <a:ext cx="476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9" name="drawio2pptx:shape-image:c79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" y="2276475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20" name="drawio2pptx:shape:c791"/>
          <p:cNvSpPr/>
          <p:nvPr/>
        </p:nvSpPr>
        <p:spPr>
          <a:xfrm>
            <a:off x="666750" y="2886075"/>
            <a:ext cx="3429000" cy="7429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        设计循环</a:t>
            </a:r>
          </a:p>
        </p:txBody>
      </p:sp>
      <p:sp>
        <p:nvSpPr>
          <p:cNvPr id="21" name="drawio2pptx:shape:c792"/>
          <p:cNvSpPr/>
          <p:nvPr/>
        </p:nvSpPr>
        <p:spPr>
          <a:xfrm>
            <a:off x="4095750" y="2886075"/>
            <a:ext cx="4191000" cy="7429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每 6 道题，或攒够 12 个失败</a:t>
            </a:r>
          </a:p>
        </p:txBody>
      </p:sp>
      <p:sp>
        <p:nvSpPr>
          <p:cNvPr id="22" name="drawio2pptx:shape:c793"/>
          <p:cNvSpPr/>
          <p:nvPr/>
        </p:nvSpPr>
        <p:spPr>
          <a:xfrm>
            <a:off x="8286750" y="2886075"/>
            <a:ext cx="4572000" cy="7429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剧本表、首轮兼容表</a:t>
            </a:r>
          </a:p>
        </p:txBody>
      </p:sp>
      <p:sp>
        <p:nvSpPr>
          <p:cNvPr id="23" name="drawio2pptx:shape:c794"/>
          <p:cNvSpPr/>
          <p:nvPr/>
        </p:nvSpPr>
        <p:spPr>
          <a:xfrm>
            <a:off x="12858750" y="2886075"/>
            <a:ext cx="4762500" cy="7429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配对增量、错题重跑</a:t>
            </a:r>
          </a:p>
        </p:txBody>
      </p:sp>
      <p:sp>
        <p:nvSpPr>
          <p:cNvPr id="24" name="drawio2pptx:shape:c795"/>
          <p:cNvSpPr/>
          <p:nvPr/>
        </p:nvSpPr>
        <p:spPr>
          <a:xfrm>
            <a:off x="800100" y="3019425"/>
            <a:ext cx="476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5" name="drawio2pptx:shape-image:c79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" y="3019425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26" name="drawio2pptx:shape:c796"/>
          <p:cNvSpPr/>
          <p:nvPr/>
        </p:nvSpPr>
        <p:spPr>
          <a:xfrm>
            <a:off x="666750" y="3629025"/>
            <a:ext cx="342900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        慢循环</a:t>
            </a:r>
          </a:p>
        </p:txBody>
      </p:sp>
      <p:sp>
        <p:nvSpPr>
          <p:cNvPr id="27" name="drawio2pptx:shape:c797"/>
          <p:cNvSpPr/>
          <p:nvPr/>
        </p:nvSpPr>
        <p:spPr>
          <a:xfrm>
            <a:off x="4095750" y="3629025"/>
            <a:ext cx="419100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held-out 错误累积后</a:t>
            </a:r>
          </a:p>
        </p:txBody>
      </p:sp>
      <p:sp>
        <p:nvSpPr>
          <p:cNvPr id="28" name="drawio2pptx:shape:c798"/>
          <p:cNvSpPr/>
          <p:nvPr/>
        </p:nvSpPr>
        <p:spPr>
          <a:xfrm>
            <a:off x="8286750" y="3629025"/>
            <a:ext cx="457200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出题者</a:t>
            </a:r>
          </a:p>
        </p:txBody>
      </p:sp>
      <p:sp>
        <p:nvSpPr>
          <p:cNvPr id="29" name="drawio2pptx:shape:c799"/>
          <p:cNvSpPr/>
          <p:nvPr/>
        </p:nvSpPr>
        <p:spPr>
          <a:xfrm>
            <a:off x="12858750" y="3629025"/>
            <a:ext cx="4762500" cy="742950"/>
          </a:xfrm>
          <a:prstGeom prst="rect">
            <a:avLst/>
          </a:prstGeom>
          <a:solidFill>
            <a:srgbClr val="FFFFFF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归给出题者的 held-out 错误</a:t>
            </a:r>
          </a:p>
        </p:txBody>
      </p:sp>
      <p:sp>
        <p:nvSpPr>
          <p:cNvPr id="30" name="drawio2pptx:shape:c800"/>
          <p:cNvSpPr/>
          <p:nvPr/>
        </p:nvSpPr>
        <p:spPr>
          <a:xfrm>
            <a:off x="800100" y="3762375"/>
            <a:ext cx="476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1" name="drawio2pptx:shape-image:c80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3762375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32" name="drawio2pptx:shape:c801"/>
          <p:cNvSpPr/>
          <p:nvPr/>
        </p:nvSpPr>
        <p:spPr>
          <a:xfrm>
            <a:off x="666750" y="4371975"/>
            <a:ext cx="3429000" cy="7429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1A1A2E"/>
                </a:solidFill>
                <a:latin typeface="微软雅黑"/>
              </a:rPr>
              <a:t>        外层循环</a:t>
            </a:r>
          </a:p>
        </p:txBody>
      </p:sp>
      <p:sp>
        <p:nvSpPr>
          <p:cNvPr id="33" name="drawio2pptx:shape:c802"/>
          <p:cNvSpPr/>
          <p:nvPr/>
        </p:nvSpPr>
        <p:spPr>
          <a:xfrm>
            <a:off x="4095750" y="4371975"/>
            <a:ext cx="4191000" cy="7429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惰性触发</a:t>
            </a:r>
          </a:p>
        </p:txBody>
      </p:sp>
      <p:sp>
        <p:nvSpPr>
          <p:cNvPr id="34" name="drawio2pptx:shape:c803"/>
          <p:cNvSpPr/>
          <p:nvPr/>
        </p:nvSpPr>
        <p:spPr>
          <a:xfrm>
            <a:off x="8286750" y="4371975"/>
            <a:ext cx="4572000" cy="7429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规划器</a:t>
            </a:r>
          </a:p>
        </p:txBody>
      </p:sp>
      <p:sp>
        <p:nvSpPr>
          <p:cNvPr id="35" name="drawio2pptx:shape:c804"/>
          <p:cNvSpPr/>
          <p:nvPr/>
        </p:nvSpPr>
        <p:spPr>
          <a:xfrm>
            <a:off x="12858750" y="4371975"/>
            <a:ext cx="4762500" cy="742950"/>
          </a:xfrm>
          <a:prstGeom prst="rect">
            <a:avLst/>
          </a:prstGeom>
          <a:solidFill>
            <a:srgbClr val="F4F7FB"/>
          </a:solidFill>
          <a:ln w="19050">
            <a:solidFill>
              <a:srgbClr val="D9E2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1A1A2E"/>
                </a:solidFill>
                <a:latin typeface="微软雅黑"/>
              </a:rPr>
              <a:t>无人负责的失败、规划审计</a:t>
            </a:r>
          </a:p>
        </p:txBody>
      </p:sp>
      <p:sp>
        <p:nvSpPr>
          <p:cNvPr id="36" name="drawio2pptx:shape:c805"/>
          <p:cNvSpPr/>
          <p:nvPr/>
        </p:nvSpPr>
        <p:spPr>
          <a:xfrm>
            <a:off x="800100" y="4505325"/>
            <a:ext cx="47625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37" name="drawio2pptx:shape-image:c80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505325"/>
            <a:ext cx="476250" cy="476250"/>
          </a:xfrm>
          <a:prstGeom prst="rect">
            <a:avLst/>
          </a:prstGeom>
          <a:ln>
            <a:noFill/>
          </a:ln>
        </p:spPr>
      </p:pic>
      <p:sp>
        <p:nvSpPr>
          <p:cNvPr id="38" name="drawio2pptx:shape:c806"/>
          <p:cNvSpPr/>
          <p:nvPr/>
        </p:nvSpPr>
        <p:spPr>
          <a:xfrm>
            <a:off x="666750" y="5619750"/>
            <a:ext cx="5715000" cy="381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 u="none">
                <a:solidFill>
                  <a:srgbClr val="0170C1"/>
                </a:solidFill>
                <a:latin typeface="微软雅黑"/>
              </a:rPr>
              <a:t>更新时刻（越外层越稀疏）</a:t>
            </a:r>
          </a:p>
        </p:txBody>
      </p:sp>
      <p:sp>
        <p:nvSpPr>
          <p:cNvPr id="39" name="drawio2pptx:shape:c807"/>
          <p:cNvSpPr/>
          <p:nvPr/>
        </p:nvSpPr>
        <p:spPr>
          <a:xfrm>
            <a:off x="666750" y="6096000"/>
            <a:ext cx="2286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170C1"/>
                </a:solidFill>
                <a:latin typeface="微软雅黑"/>
              </a:rPr>
              <a:t>快速搜索</a:t>
            </a:r>
          </a:p>
        </p:txBody>
      </p:sp>
      <p:sp>
        <p:nvSpPr>
          <p:cNvPr id="40" name="drawio2pptx:shape:c808"/>
          <p:cNvSpPr/>
          <p:nvPr/>
        </p:nvSpPr>
        <p:spPr>
          <a:xfrm>
            <a:off x="3143250" y="6324600"/>
            <a:ext cx="142875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drawio2pptx:shape:c809"/>
          <p:cNvSpPr/>
          <p:nvPr/>
        </p:nvSpPr>
        <p:spPr>
          <a:xfrm>
            <a:off x="3590925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drawio2pptx:shape:c810"/>
          <p:cNvSpPr/>
          <p:nvPr/>
        </p:nvSpPr>
        <p:spPr>
          <a:xfrm>
            <a:off x="4610100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drawio2pptx:shape:c811"/>
          <p:cNvSpPr/>
          <p:nvPr/>
        </p:nvSpPr>
        <p:spPr>
          <a:xfrm>
            <a:off x="5629275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drawio2pptx:shape:c812"/>
          <p:cNvSpPr/>
          <p:nvPr/>
        </p:nvSpPr>
        <p:spPr>
          <a:xfrm>
            <a:off x="6657975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drawio2pptx:shape:c813"/>
          <p:cNvSpPr/>
          <p:nvPr/>
        </p:nvSpPr>
        <p:spPr>
          <a:xfrm>
            <a:off x="7677150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drawio2pptx:shape:c814"/>
          <p:cNvSpPr/>
          <p:nvPr/>
        </p:nvSpPr>
        <p:spPr>
          <a:xfrm>
            <a:off x="8696325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drawio2pptx:shape:c815"/>
          <p:cNvSpPr/>
          <p:nvPr/>
        </p:nvSpPr>
        <p:spPr>
          <a:xfrm>
            <a:off x="9715500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drawio2pptx:shape:c816"/>
          <p:cNvSpPr/>
          <p:nvPr/>
        </p:nvSpPr>
        <p:spPr>
          <a:xfrm>
            <a:off x="10734675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drawio2pptx:shape:c817"/>
          <p:cNvSpPr/>
          <p:nvPr/>
        </p:nvSpPr>
        <p:spPr>
          <a:xfrm>
            <a:off x="11753850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drawio2pptx:shape:c818"/>
          <p:cNvSpPr/>
          <p:nvPr/>
        </p:nvSpPr>
        <p:spPr>
          <a:xfrm>
            <a:off x="12773025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1" name="drawio2pptx:shape:c819"/>
          <p:cNvSpPr/>
          <p:nvPr/>
        </p:nvSpPr>
        <p:spPr>
          <a:xfrm>
            <a:off x="13801725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drawio2pptx:shape:c820"/>
          <p:cNvSpPr/>
          <p:nvPr/>
        </p:nvSpPr>
        <p:spPr>
          <a:xfrm>
            <a:off x="14820900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drawio2pptx:shape:c821"/>
          <p:cNvSpPr/>
          <p:nvPr/>
        </p:nvSpPr>
        <p:spPr>
          <a:xfrm>
            <a:off x="15840075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4" name="drawio2pptx:shape:c822"/>
          <p:cNvSpPr/>
          <p:nvPr/>
        </p:nvSpPr>
        <p:spPr>
          <a:xfrm>
            <a:off x="16859250" y="6191250"/>
            <a:ext cx="114300" cy="30480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5" name="drawio2pptx:shape:c823"/>
          <p:cNvSpPr/>
          <p:nvPr/>
        </p:nvSpPr>
        <p:spPr>
          <a:xfrm>
            <a:off x="666750" y="6648450"/>
            <a:ext cx="2286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F28C28"/>
                </a:solidFill>
                <a:latin typeface="微软雅黑"/>
              </a:rPr>
              <a:t>设计循环</a:t>
            </a:r>
          </a:p>
        </p:txBody>
      </p:sp>
      <p:sp>
        <p:nvSpPr>
          <p:cNvPr id="56" name="drawio2pptx:shape:c824"/>
          <p:cNvSpPr/>
          <p:nvPr/>
        </p:nvSpPr>
        <p:spPr>
          <a:xfrm>
            <a:off x="3143250" y="6877050"/>
            <a:ext cx="142875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drawio2pptx:shape:c825"/>
          <p:cNvSpPr/>
          <p:nvPr/>
        </p:nvSpPr>
        <p:spPr>
          <a:xfrm>
            <a:off x="4514850" y="6743700"/>
            <a:ext cx="114300" cy="3048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drawio2pptx:shape:c826"/>
          <p:cNvSpPr/>
          <p:nvPr/>
        </p:nvSpPr>
        <p:spPr>
          <a:xfrm>
            <a:off x="7372350" y="6743700"/>
            <a:ext cx="114300" cy="3048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9" name="drawio2pptx:shape:c827"/>
          <p:cNvSpPr/>
          <p:nvPr/>
        </p:nvSpPr>
        <p:spPr>
          <a:xfrm>
            <a:off x="10229850" y="6743700"/>
            <a:ext cx="114300" cy="3048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drawio2pptx:shape:c828"/>
          <p:cNvSpPr/>
          <p:nvPr/>
        </p:nvSpPr>
        <p:spPr>
          <a:xfrm>
            <a:off x="13087350" y="6743700"/>
            <a:ext cx="114300" cy="3048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drawio2pptx:shape:c829"/>
          <p:cNvSpPr/>
          <p:nvPr/>
        </p:nvSpPr>
        <p:spPr>
          <a:xfrm>
            <a:off x="15944850" y="6743700"/>
            <a:ext cx="114300" cy="3048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drawio2pptx:shape:c830"/>
          <p:cNvSpPr/>
          <p:nvPr/>
        </p:nvSpPr>
        <p:spPr>
          <a:xfrm>
            <a:off x="666750" y="7200900"/>
            <a:ext cx="2286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0B4F8A"/>
                </a:solidFill>
                <a:latin typeface="微软雅黑"/>
              </a:rPr>
              <a:t>慢循环</a:t>
            </a:r>
          </a:p>
        </p:txBody>
      </p:sp>
      <p:sp>
        <p:nvSpPr>
          <p:cNvPr id="63" name="drawio2pptx:shape:c831"/>
          <p:cNvSpPr/>
          <p:nvPr/>
        </p:nvSpPr>
        <p:spPr>
          <a:xfrm>
            <a:off x="3143250" y="7429500"/>
            <a:ext cx="142875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4" name="drawio2pptx:shape:c832"/>
          <p:cNvSpPr/>
          <p:nvPr/>
        </p:nvSpPr>
        <p:spPr>
          <a:xfrm>
            <a:off x="6657975" y="7296150"/>
            <a:ext cx="114300" cy="304800"/>
          </a:xfrm>
          <a:prstGeom prst="rect">
            <a:avLst/>
          </a:prstGeom>
          <a:solidFill>
            <a:srgbClr val="0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drawio2pptx:shape:c833"/>
          <p:cNvSpPr/>
          <p:nvPr/>
        </p:nvSpPr>
        <p:spPr>
          <a:xfrm>
            <a:off x="13801725" y="7296150"/>
            <a:ext cx="114300" cy="304800"/>
          </a:xfrm>
          <a:prstGeom prst="rect">
            <a:avLst/>
          </a:prstGeom>
          <a:solidFill>
            <a:srgbClr val="0B4F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drawio2pptx:shape:c834"/>
          <p:cNvSpPr/>
          <p:nvPr/>
        </p:nvSpPr>
        <p:spPr>
          <a:xfrm>
            <a:off x="666750" y="7753350"/>
            <a:ext cx="22860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 i="0" u="none">
                <a:solidFill>
                  <a:srgbClr val="9AA5B1"/>
                </a:solidFill>
                <a:latin typeface="微软雅黑"/>
              </a:rPr>
              <a:t>外层循环</a:t>
            </a:r>
          </a:p>
        </p:txBody>
      </p:sp>
      <p:sp>
        <p:nvSpPr>
          <p:cNvPr id="67" name="drawio2pptx:shape:c835"/>
          <p:cNvSpPr/>
          <p:nvPr/>
        </p:nvSpPr>
        <p:spPr>
          <a:xfrm>
            <a:off x="3143250" y="7981950"/>
            <a:ext cx="142875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8" name="drawio2pptx:shape:c836"/>
          <p:cNvSpPr/>
          <p:nvPr/>
        </p:nvSpPr>
        <p:spPr>
          <a:xfrm>
            <a:off x="10229850" y="7848600"/>
            <a:ext cx="114300" cy="304800"/>
          </a:xfrm>
          <a:prstGeom prst="rect">
            <a:avLst/>
          </a:prstGeom>
          <a:solidFill>
            <a:srgbClr val="9AA5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9" name="drawio2pptx:shape:c837"/>
          <p:cNvSpPr/>
          <p:nvPr/>
        </p:nvSpPr>
        <p:spPr>
          <a:xfrm>
            <a:off x="666750" y="8543925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0" name="drawio2pptx:shape:c838"/>
          <p:cNvSpPr/>
          <p:nvPr/>
        </p:nvSpPr>
        <p:spPr>
          <a:xfrm>
            <a:off x="933450" y="8477250"/>
            <a:ext cx="166878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每道题只用一个版本，版本只在题与题之间切换</a:t>
            </a:r>
          </a:p>
        </p:txBody>
      </p:sp>
      <p:sp>
        <p:nvSpPr>
          <p:cNvPr id="71" name="drawio2pptx:shape:c839"/>
          <p:cNvSpPr/>
          <p:nvPr/>
        </p:nvSpPr>
        <p:spPr>
          <a:xfrm>
            <a:off x="666750" y="9124950"/>
            <a:ext cx="76200" cy="2286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2" name="drawio2pptx:shape:c840"/>
          <p:cNvSpPr/>
          <p:nvPr/>
        </p:nvSpPr>
        <p:spPr>
          <a:xfrm>
            <a:off x="933450" y="9058275"/>
            <a:ext cx="16687800" cy="5048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越慢的层越基础：它一变，内层的账本就要用记忆回放重建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rawio2pptx:shape:c84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drawio2pptx:shape:c843"/>
          <p:cNvSpPr/>
          <p:nvPr/>
        </p:nvSpPr>
        <p:spPr>
          <a:xfrm>
            <a:off x="0" y="0"/>
            <a:ext cx="18288000" cy="1238250"/>
          </a:xfrm>
          <a:prstGeom prst="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drawio2pptx:shape:c844"/>
          <p:cNvSpPr/>
          <p:nvPr/>
        </p:nvSpPr>
        <p:spPr>
          <a:xfrm>
            <a:off x="0" y="1238250"/>
            <a:ext cx="18288000" cy="7620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drawio2pptx:shape:c845"/>
          <p:cNvSpPr/>
          <p:nvPr/>
        </p:nvSpPr>
        <p:spPr>
          <a:xfrm>
            <a:off x="666750" y="0"/>
            <a:ext cx="142875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50" b="1" i="0" u="none">
                <a:solidFill>
                  <a:srgbClr val="FFFFFF"/>
                </a:solidFill>
                <a:latin typeface="微软雅黑"/>
              </a:rPr>
              <a:t>安全、可控与当前状态</a:t>
            </a:r>
          </a:p>
        </p:txBody>
      </p:sp>
      <p:sp>
        <p:nvSpPr>
          <p:cNvPr id="6" name="drawio2pptx:shape:c846"/>
          <p:cNvSpPr/>
          <p:nvPr/>
        </p:nvSpPr>
        <p:spPr>
          <a:xfrm>
            <a:off x="0" y="9944100"/>
            <a:ext cx="18288000" cy="28575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drawio2pptx:shape:c847"/>
          <p:cNvSpPr/>
          <p:nvPr/>
        </p:nvSpPr>
        <p:spPr>
          <a:xfrm>
            <a:off x="666750" y="9944100"/>
            <a:ext cx="11430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AdaMAS-RSI · 编排层上的递归自我改进 · 2026-10</a:t>
            </a:r>
          </a:p>
        </p:txBody>
      </p:sp>
      <p:sp>
        <p:nvSpPr>
          <p:cNvPr id="8" name="drawio2pptx:shape:c848"/>
          <p:cNvSpPr/>
          <p:nvPr/>
        </p:nvSpPr>
        <p:spPr>
          <a:xfrm>
            <a:off x="15430500" y="9944100"/>
            <a:ext cx="2286000" cy="3238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0" i="0" u="none">
                <a:solidFill>
                  <a:srgbClr val="4A5568"/>
                </a:solidFill>
                <a:latin typeface="微软雅黑"/>
              </a:rPr>
              <a:t>18 / 18</a:t>
            </a:r>
          </a:p>
        </p:txBody>
      </p:sp>
      <p:sp>
        <p:nvSpPr>
          <p:cNvPr id="9" name="drawio2pptx:shape:c849"/>
          <p:cNvSpPr/>
          <p:nvPr/>
        </p:nvSpPr>
        <p:spPr>
          <a:xfrm>
            <a:off x="11239500" y="0"/>
            <a:ext cx="6477000" cy="1238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u="none">
                <a:solidFill>
                  <a:srgbClr val="CFE3F5"/>
                </a:solidFill>
                <a:latin typeface="Century Gothic"/>
              </a:rPr>
              <a:t>SAFETY AND STATUS</a:t>
            </a:r>
          </a:p>
        </p:txBody>
      </p:sp>
      <p:sp>
        <p:nvSpPr>
          <p:cNvPr id="10" name="drawio2pptx:shape:c850"/>
          <p:cNvSpPr/>
          <p:nvPr/>
        </p:nvSpPr>
        <p:spPr>
          <a:xfrm>
            <a:off x="666750" y="1571625"/>
            <a:ext cx="8191500" cy="51435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微软雅黑"/>
              </a:rPr>
              <a:t>可控机制</a:t>
            </a:r>
          </a:p>
        </p:txBody>
      </p:sp>
      <p:sp>
        <p:nvSpPr>
          <p:cNvPr id="11" name="drawio2pptx:shape:c851"/>
          <p:cNvSpPr/>
          <p:nvPr/>
        </p:nvSpPr>
        <p:spPr>
          <a:xfrm>
            <a:off x="762000" y="228600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" name="drawio2pptx:shape-image:c85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28600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13" name="drawio2pptx:shape:c852"/>
          <p:cNvSpPr/>
          <p:nvPr/>
        </p:nvSpPr>
        <p:spPr>
          <a:xfrm>
            <a:off x="1428750" y="2286000"/>
            <a:ext cx="74295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所有功能默认关闭</a:t>
            </a:r>
          </a:p>
        </p:txBody>
      </p:sp>
      <p:sp>
        <p:nvSpPr>
          <p:cNvPr id="14" name="drawio2pptx:shape:c853"/>
          <p:cNvSpPr/>
          <p:nvPr/>
        </p:nvSpPr>
        <p:spPr>
          <a:xfrm>
            <a:off x="762000" y="314325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" name="drawio2pptx:shape-image:c85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314325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16" name="drawio2pptx:shape:c854"/>
          <p:cNvSpPr/>
          <p:nvPr/>
        </p:nvSpPr>
        <p:spPr>
          <a:xfrm>
            <a:off x="1428750" y="3143250"/>
            <a:ext cx="74295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设计循环默认只报告不发布</a:t>
            </a:r>
          </a:p>
        </p:txBody>
      </p:sp>
      <p:sp>
        <p:nvSpPr>
          <p:cNvPr id="17" name="drawio2pptx:shape:c855"/>
          <p:cNvSpPr/>
          <p:nvPr/>
        </p:nvSpPr>
        <p:spPr>
          <a:xfrm>
            <a:off x="762000" y="400050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drawio2pptx:shape-image:c85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400050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19" name="drawio2pptx:shape:c856"/>
          <p:cNvSpPr/>
          <p:nvPr/>
        </p:nvSpPr>
        <p:spPr>
          <a:xfrm>
            <a:off x="1428750" y="4000500"/>
            <a:ext cx="74295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版本不可变，可回滚；回滚时新升启用的行降回候补</a:t>
            </a:r>
          </a:p>
        </p:txBody>
      </p:sp>
      <p:sp>
        <p:nvSpPr>
          <p:cNvPr id="20" name="drawio2pptx:shape:c857"/>
          <p:cNvSpPr/>
          <p:nvPr/>
        </p:nvSpPr>
        <p:spPr>
          <a:xfrm>
            <a:off x="762000" y="4857750"/>
            <a:ext cx="5334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1" name="drawio2pptx:shape-image:c85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4857750"/>
            <a:ext cx="533400" cy="533400"/>
          </a:xfrm>
          <a:prstGeom prst="rect">
            <a:avLst/>
          </a:prstGeom>
          <a:ln>
            <a:noFill/>
          </a:ln>
        </p:spPr>
      </p:pic>
      <p:sp>
        <p:nvSpPr>
          <p:cNvPr id="22" name="drawio2pptx:shape:c858"/>
          <p:cNvSpPr/>
          <p:nvPr/>
        </p:nvSpPr>
        <p:spPr>
          <a:xfrm>
            <a:off x="1428750" y="4857750"/>
            <a:ext cx="7429500" cy="5334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0" i="0" u="none">
                <a:solidFill>
                  <a:srgbClr val="1A1A2E"/>
                </a:solidFill>
                <a:latin typeface="微软雅黑"/>
              </a:rPr>
              <a:t>held-out 密封，只有绊线模块能读</a:t>
            </a:r>
          </a:p>
        </p:txBody>
      </p:sp>
      <p:sp>
        <p:nvSpPr>
          <p:cNvPr id="23" name="drawio2pptx:shape:c859"/>
          <p:cNvSpPr/>
          <p:nvPr/>
        </p:nvSpPr>
        <p:spPr>
          <a:xfrm>
            <a:off x="666750" y="5905500"/>
            <a:ext cx="8191500" cy="514350"/>
          </a:xfrm>
          <a:prstGeom prst="round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微软雅黑"/>
              </a:rPr>
              <a:t>当前状态（2026-10-01）</a:t>
            </a:r>
          </a:p>
        </p:txBody>
      </p:sp>
      <p:sp>
        <p:nvSpPr>
          <p:cNvPr id="24" name="drawio2pptx:shape:c860"/>
          <p:cNvSpPr/>
          <p:nvPr/>
        </p:nvSpPr>
        <p:spPr>
          <a:xfrm>
            <a:off x="666750" y="6638925"/>
            <a:ext cx="76200" cy="2095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drawio2pptx:shape:c861"/>
          <p:cNvSpPr/>
          <p:nvPr/>
        </p:nvSpPr>
        <p:spPr>
          <a:xfrm>
            <a:off x="933450" y="6572250"/>
            <a:ext cx="7924800" cy="476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七个实现阶段完成，单元测试全部通过</a:t>
            </a:r>
          </a:p>
        </p:txBody>
      </p:sp>
      <p:sp>
        <p:nvSpPr>
          <p:cNvPr id="26" name="drawio2pptx:shape:c862"/>
          <p:cNvSpPr/>
          <p:nvPr/>
        </p:nvSpPr>
        <p:spPr>
          <a:xfrm>
            <a:off x="666750" y="7248525"/>
            <a:ext cx="76200" cy="2095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drawio2pptx:shape:c863"/>
          <p:cNvSpPr/>
          <p:nvPr/>
        </p:nvSpPr>
        <p:spPr>
          <a:xfrm>
            <a:off x="933450" y="7181850"/>
            <a:ext cx="7924800" cy="819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首轮付费对照已跑：CPE 7 道训练题（gpt-5.5），进化臂与基线同噪声水平，三处缺陷在跑中修复</a:t>
            </a:r>
          </a:p>
        </p:txBody>
      </p:sp>
      <p:sp>
        <p:nvSpPr>
          <p:cNvPr id="28" name="drawio2pptx:shape:c864"/>
          <p:cNvSpPr/>
          <p:nvPr/>
        </p:nvSpPr>
        <p:spPr>
          <a:xfrm>
            <a:off x="666750" y="8201025"/>
            <a:ext cx="76200" cy="209550"/>
          </a:xfrm>
          <a:prstGeom prst="rect">
            <a:avLst/>
          </a:prstGeom>
          <a:solidFill>
            <a:srgbClr val="F28C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drawio2pptx:shape:c865"/>
          <p:cNvSpPr/>
          <p:nvPr/>
        </p:nvSpPr>
        <p:spPr>
          <a:xfrm>
            <a:off x="933450" y="8134350"/>
            <a:ext cx="7924800" cy="8191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0" lIns="0" bIns="0" r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NL2Repo 三题系列（gpt-5.6-sol）进行中；设计循环已以只报告模式跑过一轮</a:t>
            </a:r>
          </a:p>
        </p:txBody>
      </p:sp>
      <p:sp>
        <p:nvSpPr>
          <p:cNvPr id="30" name="drawio2pptx:shape:c866"/>
          <p:cNvSpPr/>
          <p:nvPr/>
        </p:nvSpPr>
        <p:spPr>
          <a:xfrm>
            <a:off x="9525000" y="1714500"/>
            <a:ext cx="8096250" cy="514350"/>
          </a:xfrm>
          <a:prstGeom prst="roundRect">
            <a:avLst/>
          </a:prstGeom>
          <a:solidFill>
            <a:srgbClr val="017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微软雅黑"/>
              </a:rPr>
              <a:t>路线图</a:t>
            </a:r>
          </a:p>
        </p:txBody>
      </p:sp>
      <p:sp>
        <p:nvSpPr>
          <p:cNvPr id="31" name="drawio2pptx:shape:c867"/>
          <p:cNvSpPr/>
          <p:nvPr/>
        </p:nvSpPr>
        <p:spPr>
          <a:xfrm>
            <a:off x="9867900" y="3143250"/>
            <a:ext cx="3810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drawio2pptx:shape:c868"/>
          <p:cNvSpPr/>
          <p:nvPr/>
        </p:nvSpPr>
        <p:spPr>
          <a:xfrm>
            <a:off x="9658350" y="2571750"/>
            <a:ext cx="457200" cy="457200"/>
          </a:xfrm>
          <a:prstGeom prst="ellipse">
            <a:avLst/>
          </a:prstGeom>
          <a:solidFill>
            <a:srgbClr val="2E8B57"/>
          </a:solidFill>
          <a:ln w="285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drawio2pptx:shape:c869"/>
          <p:cNvSpPr/>
          <p:nvPr/>
        </p:nvSpPr>
        <p:spPr>
          <a:xfrm>
            <a:off x="9658350" y="257175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4" name="drawio2pptx:shape:c870"/>
          <p:cNvSpPr/>
          <p:nvPr/>
        </p:nvSpPr>
        <p:spPr>
          <a:xfrm>
            <a:off x="10382250" y="2476500"/>
            <a:ext cx="7239000" cy="647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冒烟测试</a:t>
            </a:r>
          </a:p>
        </p:txBody>
      </p:sp>
      <p:sp>
        <p:nvSpPr>
          <p:cNvPr id="35" name="drawio2pptx:shape:c871"/>
          <p:cNvSpPr/>
          <p:nvPr/>
        </p:nvSpPr>
        <p:spPr>
          <a:xfrm>
            <a:off x="9867900" y="4267200"/>
            <a:ext cx="3810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drawio2pptx:shape:c872"/>
          <p:cNvSpPr/>
          <p:nvPr/>
        </p:nvSpPr>
        <p:spPr>
          <a:xfrm>
            <a:off x="9658350" y="3695700"/>
            <a:ext cx="457200" cy="457200"/>
          </a:xfrm>
          <a:prstGeom prst="ellipse">
            <a:avLst/>
          </a:prstGeom>
          <a:solidFill>
            <a:srgbClr val="2E8B57"/>
          </a:solidFill>
          <a:ln w="285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drawio2pptx:shape:c873"/>
          <p:cNvSpPr/>
          <p:nvPr/>
        </p:nvSpPr>
        <p:spPr>
          <a:xfrm>
            <a:off x="9658350" y="369570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38" name="drawio2pptx:shape:c874"/>
          <p:cNvSpPr/>
          <p:nvPr/>
        </p:nvSpPr>
        <p:spPr>
          <a:xfrm>
            <a:off x="10382250" y="3600450"/>
            <a:ext cx="7239000" cy="647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训练题对照（基线 vs 标准流程）</a:t>
            </a:r>
          </a:p>
        </p:txBody>
      </p:sp>
      <p:sp>
        <p:nvSpPr>
          <p:cNvPr id="39" name="drawio2pptx:shape:c875"/>
          <p:cNvSpPr/>
          <p:nvPr/>
        </p:nvSpPr>
        <p:spPr>
          <a:xfrm>
            <a:off x="9867900" y="5391150"/>
            <a:ext cx="38100" cy="4572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drawio2pptx:shape:c876"/>
          <p:cNvSpPr/>
          <p:nvPr/>
        </p:nvSpPr>
        <p:spPr>
          <a:xfrm>
            <a:off x="9658350" y="4819650"/>
            <a:ext cx="457200" cy="457200"/>
          </a:xfrm>
          <a:prstGeom prst="ellipse">
            <a:avLst/>
          </a:prstGeom>
          <a:solidFill>
            <a:srgbClr val="2E8B57"/>
          </a:solidFill>
          <a:ln w="28575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drawio2pptx:shape:c877"/>
          <p:cNvSpPr/>
          <p:nvPr/>
        </p:nvSpPr>
        <p:spPr>
          <a:xfrm>
            <a:off x="9658350" y="481965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0" bIns="0" r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50" b="1" i="0" u="none">
                <a:solidFill>
                  <a:srgbClr val="FFFFFF"/>
                </a:solidFill>
                <a:latin typeface="Arial"/>
              </a:rPr>
              <a:t>✓</a:t>
            </a:r>
          </a:p>
        </p:txBody>
      </p:sp>
      <p:sp>
        <p:nvSpPr>
          <p:cNvPr id="42" name="drawio2pptx:shape:c878"/>
          <p:cNvSpPr/>
          <p:nvPr/>
        </p:nvSpPr>
        <p:spPr>
          <a:xfrm>
            <a:off x="10382250" y="4724400"/>
            <a:ext cx="7239000" cy="6477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1A1A2E"/>
                </a:solidFill>
                <a:latin typeface="微软雅黑"/>
              </a:rPr>
              <a:t>第一次设计循环（只报告）</a:t>
            </a:r>
          </a:p>
        </p:txBody>
      </p:sp>
      <p:sp>
        <p:nvSpPr>
          <p:cNvPr id="43" name="drawio2pptx:shape:c879"/>
          <p:cNvSpPr/>
          <p:nvPr/>
        </p:nvSpPr>
        <p:spPr>
          <a:xfrm>
            <a:off x="9867900" y="6515100"/>
            <a:ext cx="38100" cy="4572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drawio2pptx:shape:c880"/>
          <p:cNvSpPr/>
          <p:nvPr/>
        </p:nvSpPr>
        <p:spPr>
          <a:xfrm>
            <a:off x="9658350" y="5943600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drawio2pptx:shape:c881"/>
          <p:cNvSpPr/>
          <p:nvPr/>
        </p:nvSpPr>
        <p:spPr>
          <a:xfrm>
            <a:off x="9658350" y="594360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drawio2pptx:shape:c882"/>
          <p:cNvSpPr/>
          <p:nvPr/>
        </p:nvSpPr>
        <p:spPr>
          <a:xfrm>
            <a:off x="10382250" y="5848350"/>
            <a:ext cx="7239000" cy="6477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4A5568"/>
                </a:solidFill>
                <a:latin typeface="微软雅黑"/>
              </a:rPr>
              <a:t>错题重跑与发布 v2</a:t>
            </a:r>
          </a:p>
        </p:txBody>
      </p:sp>
      <p:sp>
        <p:nvSpPr>
          <p:cNvPr id="47" name="drawio2pptx:shape:c883"/>
          <p:cNvSpPr/>
          <p:nvPr/>
        </p:nvSpPr>
        <p:spPr>
          <a:xfrm>
            <a:off x="9867900" y="7639050"/>
            <a:ext cx="38100" cy="457200"/>
          </a:xfrm>
          <a:prstGeom prst="rect">
            <a:avLst/>
          </a:prstGeom>
          <a:solidFill>
            <a:srgbClr val="D9E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drawio2pptx:shape:c884"/>
          <p:cNvSpPr/>
          <p:nvPr/>
        </p:nvSpPr>
        <p:spPr>
          <a:xfrm>
            <a:off x="9658350" y="7067550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drawio2pptx:shape:c885"/>
          <p:cNvSpPr/>
          <p:nvPr/>
        </p:nvSpPr>
        <p:spPr>
          <a:xfrm>
            <a:off x="9658350" y="706755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drawio2pptx:shape:c886"/>
          <p:cNvSpPr/>
          <p:nvPr/>
        </p:nvSpPr>
        <p:spPr>
          <a:xfrm>
            <a:off x="10382250" y="6972300"/>
            <a:ext cx="7239000" cy="6477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4A5568"/>
                </a:solidFill>
                <a:latin typeface="微软雅黑"/>
              </a:rPr>
              <a:t>慢循环：出题者进化</a:t>
            </a:r>
          </a:p>
        </p:txBody>
      </p:sp>
      <p:sp>
        <p:nvSpPr>
          <p:cNvPr id="51" name="drawio2pptx:shape:c888"/>
          <p:cNvSpPr/>
          <p:nvPr/>
        </p:nvSpPr>
        <p:spPr>
          <a:xfrm>
            <a:off x="9658350" y="8191500"/>
            <a:ext cx="457200" cy="45720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drawio2pptx:shape:c889"/>
          <p:cNvSpPr/>
          <p:nvPr/>
        </p:nvSpPr>
        <p:spPr>
          <a:xfrm>
            <a:off x="9658350" y="8191500"/>
            <a:ext cx="4572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drawio2pptx:shape:c890"/>
          <p:cNvSpPr/>
          <p:nvPr/>
        </p:nvSpPr>
        <p:spPr>
          <a:xfrm>
            <a:off x="10382250" y="8096250"/>
            <a:ext cx="7239000" cy="647700"/>
          </a:xfrm>
          <a:prstGeom prst="roundRect">
            <a:avLst/>
          </a:prstGeom>
          <a:solidFill>
            <a:srgbClr val="F4F7FB"/>
          </a:solidFill>
          <a:ln w="19050">
            <a:solidFill>
              <a:srgbClr val="9AA5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0" lIns="133350" bIns="0" rIns="13335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 u="none">
                <a:solidFill>
                  <a:srgbClr val="4A5568"/>
                </a:solidFill>
                <a:latin typeface="微软雅黑"/>
              </a:rPr>
              <a:t>测试题评估（冻结版本，各跑 2 次）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